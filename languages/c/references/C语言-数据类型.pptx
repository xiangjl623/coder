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2" r:id="rId6"/>
    <p:sldId id="263" r:id="rId7"/>
    <p:sldId id="267" r:id="rId8"/>
    <p:sldId id="271" r:id="rId9"/>
    <p:sldId id="268" r:id="rId10"/>
    <p:sldId id="274" r:id="rId11"/>
    <p:sldId id="275" r:id="rId12"/>
    <p:sldId id="277" r:id="rId13"/>
    <p:sldId id="273" r:id="rId14"/>
    <p:sldId id="269" r:id="rId15"/>
    <p:sldId id="272" r:id="rId16"/>
    <p:sldId id="278" r:id="rId17"/>
    <p:sldId id="283" r:id="rId18"/>
    <p:sldId id="284" r:id="rId19"/>
    <p:sldId id="282" r:id="rId20"/>
    <p:sldId id="276" r:id="rId21"/>
    <p:sldId id="280" r:id="rId22"/>
    <p:sldId id="285" r:id="rId23"/>
    <p:sldId id="286" r:id="rId24"/>
    <p:sldId id="288" r:id="rId25"/>
    <p:sldId id="260" r:id="rId26"/>
    <p:sldId id="287" r:id="rId27"/>
    <p:sldId id="289" r:id="rId28"/>
    <p:sldId id="290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660"/>
  </p:normalViewPr>
  <p:slideViewPr>
    <p:cSldViewPr snapToGrid="0">
      <p:cViewPr>
        <p:scale>
          <a:sx n="75" d="100"/>
          <a:sy n="75" d="100"/>
        </p:scale>
        <p:origin x="38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6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7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09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14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726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06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24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73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03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576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68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42620-96DC-49D9-87C2-1C2705F3C14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FBD9D-EADF-4FF2-A4DA-BCCDDC1676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30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12" Type="http://schemas.openxmlformats.org/officeDocument/2006/relationships/image" Target="../media/image17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11" Type="http://schemas.openxmlformats.org/officeDocument/2006/relationships/image" Target="../media/image6.png"/><Relationship Id="rId10" Type="http://schemas.openxmlformats.org/officeDocument/2006/relationships/image" Target="../media/image15.sv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12" Type="http://schemas.openxmlformats.org/officeDocument/2006/relationships/image" Target="../media/image3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11" Type="http://schemas.openxmlformats.org/officeDocument/2006/relationships/image" Target="../media/image13.png"/><Relationship Id="rId10" Type="http://schemas.openxmlformats.org/officeDocument/2006/relationships/image" Target="../media/image28.svg"/><Relationship Id="rId9" Type="http://schemas.openxmlformats.org/officeDocument/2006/relationships/image" Target="../media/image12.png"/><Relationship Id="rId1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svg"/><Relationship Id="rId10" Type="http://schemas.openxmlformats.org/officeDocument/2006/relationships/image" Target="../media/image26.svg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5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err="1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en-US" altLang="zh-CN" b="1" dirty="0" err="1" smtClean="0">
                <a:latin typeface="Noto Sans SC"/>
                <a:ea typeface="Noto Sans SC"/>
                <a:cs typeface="Noto Sans SC"/>
                <a:sym typeface="Noto Sans SC"/>
              </a:rPr>
              <a:t>语言</a:t>
            </a:r>
            <a:r>
              <a:rPr lang="en-US" altLang="zh-CN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b="1" dirty="0" smtClean="0"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r>
              <a:rPr lang="en-US" altLang="zh-CN" sz="1400" dirty="0" smtClean="0"/>
              <a:t/>
            </a:r>
            <a:br>
              <a:rPr lang="en-US" altLang="zh-CN" sz="1400" dirty="0" smtClean="0"/>
            </a:b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zh-CN" altLang="en-US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运行原理、基础数据类型到</a:t>
            </a:r>
            <a:r>
              <a:rPr lang="en-US" altLang="zh-CN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指针实践，揭开底层存储的核心奥秘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893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3" name="AutoShape 4"/>
          <p:cNvSpPr/>
          <p:nvPr/>
        </p:nvSpPr>
        <p:spPr>
          <a:xfrm>
            <a:off x="762000" y="1547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5"/>
          <p:cNvSpPr/>
          <p:nvPr/>
        </p:nvSpPr>
        <p:spPr>
          <a:xfrm>
            <a:off x="762000" y="1547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6"/>
          <p:cNvSpPr/>
          <p:nvPr/>
        </p:nvSpPr>
        <p:spPr>
          <a:xfrm>
            <a:off x="1016000" y="1674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6" name="Connector 7"/>
          <p:cNvCxnSpPr/>
          <p:nvPr/>
        </p:nvCxnSpPr>
        <p:spPr>
          <a:xfrm rot="5361804">
            <a:off x="1460500" y="2302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8"/>
          <p:cNvSpPr/>
          <p:nvPr/>
        </p:nvSpPr>
        <p:spPr>
          <a:xfrm>
            <a:off x="2222500" y="1699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2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语言运行原理</a:t>
            </a:r>
            <a:endParaRPr lang="en-US" sz="1100" dirty="0"/>
          </a:p>
        </p:txBody>
      </p:sp>
      <p:sp>
        <p:nvSpPr>
          <p:cNvPr id="8" name="AutoShape 9"/>
          <p:cNvSpPr/>
          <p:nvPr/>
        </p:nvSpPr>
        <p:spPr>
          <a:xfrm>
            <a:off x="2222500" y="2245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深入剖析C程序运行时的内存四区模型，详解代码段、数据段、栈区与堆区的功能划分与数据存储特性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10"/>
          <p:cNvSpPr/>
          <p:nvPr/>
        </p:nvSpPr>
        <p:spPr>
          <a:xfrm>
            <a:off x="6413500" y="1547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1"/>
          <p:cNvSpPr/>
          <p:nvPr/>
        </p:nvSpPr>
        <p:spPr>
          <a:xfrm>
            <a:off x="6413500" y="1547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2"/>
          <p:cNvSpPr/>
          <p:nvPr/>
        </p:nvSpPr>
        <p:spPr>
          <a:xfrm>
            <a:off x="6667500" y="1674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2" name="Connector 13"/>
          <p:cNvCxnSpPr/>
          <p:nvPr/>
        </p:nvCxnSpPr>
        <p:spPr>
          <a:xfrm rot="5361804">
            <a:off x="7112000" y="2302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4"/>
          <p:cNvSpPr/>
          <p:nvPr/>
        </p:nvSpPr>
        <p:spPr>
          <a:xfrm>
            <a:off x="7874000" y="1699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dirty="0">
                <a:latin typeface="Noto Sans SC"/>
                <a:ea typeface="Noto Sans SC"/>
                <a:cs typeface="Noto Sans SC"/>
                <a:sym typeface="Noto Sans SC"/>
              </a:rPr>
              <a:t>基础</a:t>
            </a: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数据类型</a:t>
            </a:r>
            <a:endParaRPr lang="en-US" sz="1100" dirty="0"/>
          </a:p>
        </p:txBody>
      </p:sp>
      <p:sp>
        <p:nvSpPr>
          <p:cNvPr id="14" name="AutoShape 15"/>
          <p:cNvSpPr/>
          <p:nvPr/>
        </p:nvSpPr>
        <p:spPr>
          <a:xfrm>
            <a:off x="7874000" y="2245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探究各类基本数据类型在内存中的占用空间，掌握sizeof</a:t>
            </a:r>
            <a:r>
              <a:rPr lang="en-US" sz="1400" b="0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运算符的使用技巧与底层计算逻辑</a:t>
            </a:r>
            <a:endParaRPr lang="en-US" sz="1100" dirty="0"/>
          </a:p>
        </p:txBody>
      </p:sp>
      <p:sp>
        <p:nvSpPr>
          <p:cNvPr id="15" name="AutoShape 16"/>
          <p:cNvSpPr/>
          <p:nvPr/>
        </p:nvSpPr>
        <p:spPr>
          <a:xfrm>
            <a:off x="762000" y="3452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7"/>
          <p:cNvSpPr/>
          <p:nvPr/>
        </p:nvSpPr>
        <p:spPr>
          <a:xfrm>
            <a:off x="762000" y="3452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8"/>
          <p:cNvSpPr/>
          <p:nvPr/>
        </p:nvSpPr>
        <p:spPr>
          <a:xfrm>
            <a:off x="1016000" y="3579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8" name="Connector 19"/>
          <p:cNvCxnSpPr/>
          <p:nvPr/>
        </p:nvCxnSpPr>
        <p:spPr>
          <a:xfrm rot="5361804">
            <a:off x="1460500" y="4207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20"/>
          <p:cNvSpPr/>
          <p:nvPr/>
        </p:nvSpPr>
        <p:spPr>
          <a:xfrm>
            <a:off x="2222500" y="3604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指针</a:t>
            </a:r>
            <a:endParaRPr lang="en-US" sz="1100" dirty="0"/>
          </a:p>
        </p:txBody>
      </p:sp>
      <p:sp>
        <p:nvSpPr>
          <p:cNvPr id="20" name="AutoShape 21"/>
          <p:cNvSpPr/>
          <p:nvPr/>
        </p:nvSpPr>
        <p:spPr>
          <a:xfrm>
            <a:off x="2222500" y="4150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理解指针的本质是内存地址，掌握指针的算术运算、指针与数组的关系，以及NULL等特殊指针的应用。</a:t>
            </a:r>
            <a:endParaRPr lang="en-US" sz="1100"/>
          </a:p>
        </p:txBody>
      </p:sp>
      <p:sp>
        <p:nvSpPr>
          <p:cNvPr id="21" name="AutoShape 22"/>
          <p:cNvSpPr/>
          <p:nvPr/>
        </p:nvSpPr>
        <p:spPr>
          <a:xfrm>
            <a:off x="6413500" y="3452191"/>
            <a:ext cx="52705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3"/>
          <p:cNvSpPr/>
          <p:nvPr/>
        </p:nvSpPr>
        <p:spPr>
          <a:xfrm>
            <a:off x="6413500" y="3452191"/>
            <a:ext cx="76200" cy="1524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4"/>
          <p:cNvSpPr/>
          <p:nvPr/>
        </p:nvSpPr>
        <p:spPr>
          <a:xfrm>
            <a:off x="6667500" y="3579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4" name="Connector 25"/>
          <p:cNvCxnSpPr/>
          <p:nvPr/>
        </p:nvCxnSpPr>
        <p:spPr>
          <a:xfrm rot="5361804">
            <a:off x="7112000" y="4207876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6"/>
          <p:cNvSpPr/>
          <p:nvPr/>
        </p:nvSpPr>
        <p:spPr>
          <a:xfrm>
            <a:off x="7874000" y="3604591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数组</a:t>
            </a:r>
            <a:endParaRPr lang="en-US" sz="1100" dirty="0"/>
          </a:p>
        </p:txBody>
      </p:sp>
      <p:sp>
        <p:nvSpPr>
          <p:cNvPr id="26" name="AutoShape 27"/>
          <p:cNvSpPr/>
          <p:nvPr/>
        </p:nvSpPr>
        <p:spPr>
          <a:xfrm>
            <a:off x="7874000" y="4150691"/>
            <a:ext cx="361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分析数组的连续内存布局，</a:t>
            </a:r>
            <a:r>
              <a:rPr lang="en-US" sz="1400" b="0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对比字符数组与字符串常量的本质区别</a:t>
            </a:r>
            <a:endParaRPr lang="en-US" sz="1100" dirty="0"/>
          </a:p>
        </p:txBody>
      </p:sp>
      <p:sp>
        <p:nvSpPr>
          <p:cNvPr id="27" name="AutoShape 28"/>
          <p:cNvSpPr/>
          <p:nvPr/>
        </p:nvSpPr>
        <p:spPr>
          <a:xfrm>
            <a:off x="762000" y="5230190"/>
            <a:ext cx="5270500" cy="1270001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9"/>
          <p:cNvSpPr/>
          <p:nvPr/>
        </p:nvSpPr>
        <p:spPr>
          <a:xfrm>
            <a:off x="762000" y="5230191"/>
            <a:ext cx="76200" cy="10795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30"/>
          <p:cNvSpPr/>
          <p:nvPr/>
        </p:nvSpPr>
        <p:spPr>
          <a:xfrm>
            <a:off x="1016000" y="5357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id="30" name="Connector 31"/>
          <p:cNvCxnSpPr/>
          <p:nvPr/>
        </p:nvCxnSpPr>
        <p:spPr>
          <a:xfrm rot="5347115">
            <a:off x="16192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2"/>
          <p:cNvSpPr/>
          <p:nvPr/>
        </p:nvSpPr>
        <p:spPr>
          <a:xfrm>
            <a:off x="2222500" y="5553765"/>
            <a:ext cx="3556000" cy="5654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字符串</a:t>
            </a:r>
            <a:endParaRPr lang="en-US" altLang="zh-CN" sz="2000" b="1" i="0" u="none" strike="noStrike" dirty="0" smtClean="0"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100" dirty="0" err="1" smtClean="0">
                <a:latin typeface="Noto Sans SC"/>
                <a:ea typeface="Noto Sans SC"/>
                <a:cs typeface="Noto Sans SC"/>
                <a:sym typeface="Noto Sans SC"/>
              </a:rPr>
              <a:t>掌握字符串处理的核心要点</a:t>
            </a:r>
            <a:endParaRPr lang="en-US" altLang="zh-CN" sz="1000" dirty="0"/>
          </a:p>
        </p:txBody>
      </p:sp>
      <p:cxnSp>
        <p:nvCxnSpPr>
          <p:cNvPr id="32" name="Connector 33"/>
          <p:cNvCxnSpPr/>
          <p:nvPr/>
        </p:nvCxnSpPr>
        <p:spPr>
          <a:xfrm rot="5347115">
            <a:off x="60642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28"/>
          <p:cNvSpPr/>
          <p:nvPr/>
        </p:nvSpPr>
        <p:spPr>
          <a:xfrm>
            <a:off x="6413500" y="5230190"/>
            <a:ext cx="5270500" cy="1270001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29"/>
          <p:cNvSpPr/>
          <p:nvPr/>
        </p:nvSpPr>
        <p:spPr>
          <a:xfrm>
            <a:off x="6413500" y="5230191"/>
            <a:ext cx="76200" cy="10795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30"/>
          <p:cNvSpPr/>
          <p:nvPr/>
        </p:nvSpPr>
        <p:spPr>
          <a:xfrm>
            <a:off x="6667500" y="5357191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 dirty="0"/>
          </a:p>
        </p:txBody>
      </p:sp>
      <p:cxnSp>
        <p:nvCxnSpPr>
          <p:cNvPr id="41" name="Connector 31"/>
          <p:cNvCxnSpPr/>
          <p:nvPr/>
        </p:nvCxnSpPr>
        <p:spPr>
          <a:xfrm rot="5347115">
            <a:off x="72707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32"/>
          <p:cNvSpPr/>
          <p:nvPr/>
        </p:nvSpPr>
        <p:spPr>
          <a:xfrm>
            <a:off x="7874000" y="5530573"/>
            <a:ext cx="3556000" cy="56542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 smtClean="0">
                <a:latin typeface="Noto Sans SC"/>
                <a:ea typeface="Noto Sans SC"/>
                <a:cs typeface="Noto Sans SC"/>
                <a:sym typeface="Noto Sans SC"/>
              </a:rPr>
              <a:t>结构体</a:t>
            </a:r>
            <a:endParaRPr lang="en-US" sz="2000" b="1" i="0" u="none" strike="noStrike" dirty="0" smtClean="0"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1100" dirty="0" err="1" smtClean="0">
                <a:latin typeface="Noto Sans SC"/>
                <a:ea typeface="Noto Sans SC"/>
                <a:cs typeface="Noto Sans SC"/>
                <a:sym typeface="Noto Sans SC"/>
              </a:rPr>
              <a:t>详解结构体的</a:t>
            </a:r>
            <a:r>
              <a:rPr lang="zh-CN" altLang="en-US" sz="1100" dirty="0" smtClean="0">
                <a:latin typeface="Noto Sans SC"/>
                <a:ea typeface="Noto Sans SC"/>
                <a:cs typeface="Noto Sans SC"/>
                <a:sym typeface="Noto Sans SC"/>
              </a:rPr>
              <a:t>基本使用</a:t>
            </a:r>
            <a:endParaRPr lang="en-US" altLang="zh-CN" sz="1000" dirty="0"/>
          </a:p>
        </p:txBody>
      </p:sp>
      <p:cxnSp>
        <p:nvCxnSpPr>
          <p:cNvPr id="43" name="Connector 33"/>
          <p:cNvCxnSpPr/>
          <p:nvPr/>
        </p:nvCxnSpPr>
        <p:spPr>
          <a:xfrm rot="5347115">
            <a:off x="11715750" y="5763640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2439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4000" b="1" dirty="0">
                <a:latin typeface="Noto Sans SC"/>
                <a:ea typeface="Noto Sans SC"/>
                <a:cs typeface="Noto Sans SC"/>
              </a:rPr>
              <a:t>C</a:t>
            </a:r>
            <a:r>
              <a:rPr lang="zh-CN" altLang="en-US" sz="4000" b="1" dirty="0">
                <a:latin typeface="Noto Sans SC"/>
                <a:ea typeface="Noto Sans SC"/>
                <a:cs typeface="Noto Sans SC"/>
              </a:rPr>
              <a:t>语言运行原理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837515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语言程序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-</a:t>
            </a:r>
            <a:r>
              <a:rPr lang="zh-CN" altLang="en-US" sz="3200" b="1" dirty="0">
                <a:latin typeface="Noto Sans SC"/>
                <a:ea typeface="Noto Sans SC"/>
                <a:cs typeface="Noto Sans SC"/>
                <a:sym typeface="Noto Sans SC"/>
              </a:rPr>
              <a:t>运行原理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Picture 2" descr="http://www.uml.org.cn/c++/images/202306204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098" y="1905000"/>
            <a:ext cx="6478689" cy="4023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99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r>
              <a:rPr lang="en-US" altLang="zh-CN" sz="3200" b="1" dirty="0" err="1" smtClean="0">
                <a:latin typeface="Noto Sans SC"/>
                <a:ea typeface="Noto Sans SC"/>
                <a:cs typeface="Noto Sans SC"/>
                <a:sym typeface="Noto Sans SC"/>
              </a:rPr>
              <a:t>程序的内存布局：餐厅比喻</a:t>
            </a: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（了解）</a:t>
            </a:r>
            <a:endParaRPr lang="en-US" altLang="zh-CN" sz="3200" b="1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6" name="Picture 4"/>
          <p:cNvPicPr>
            <a:picLocks noChangeAspect="1"/>
          </p:cNvPicPr>
          <p:nvPr/>
        </p:nvPicPr>
        <p:blipFill>
          <a:blip r:embed="rId2"/>
          <a:srcRect l="2826" r="2826"/>
          <a:stretch>
            <a:fillRect/>
          </a:stretch>
        </p:blipFill>
        <p:spPr>
          <a:xfrm>
            <a:off x="762000" y="1778000"/>
            <a:ext cx="4572000" cy="3302000"/>
          </a:xfrm>
          <a:prstGeom prst="rect">
            <a:avLst/>
          </a:prstGeom>
          <a:noFill/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</p:pic>
      <p:sp>
        <p:nvSpPr>
          <p:cNvPr id="7" name="AutoShape 5"/>
          <p:cNvSpPr/>
          <p:nvPr/>
        </p:nvSpPr>
        <p:spPr>
          <a:xfrm>
            <a:off x="762000" y="5334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图示直观展示了程序运行时虚拟地址空间的分区结构，从低地址到高地址依次为代码段、数据段、堆和栈，其中堆向高地址生长，栈向低地址生长。</a:t>
            </a:r>
            <a:endParaRPr lang="en-US" sz="1100"/>
          </a:p>
        </p:txBody>
      </p:sp>
      <p:cxnSp>
        <p:nvCxnSpPr>
          <p:cNvPr id="8" name="Connector 6"/>
          <p:cNvCxnSpPr/>
          <p:nvPr/>
        </p:nvCxnSpPr>
        <p:spPr>
          <a:xfrm rot="5389889">
            <a:off x="3683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7"/>
          <p:cNvSpPr/>
          <p:nvPr/>
        </p:nvSpPr>
        <p:spPr>
          <a:xfrm>
            <a:off x="6096000" y="1778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8400" y="1930400"/>
            <a:ext cx="304800" cy="304800"/>
          </a:xfrm>
          <a:prstGeom prst="rect">
            <a:avLst/>
          </a:prstGeom>
        </p:spPr>
      </p:pic>
      <p:sp>
        <p:nvSpPr>
          <p:cNvPr id="11" name="AutoShape 9"/>
          <p:cNvSpPr/>
          <p:nvPr/>
        </p:nvSpPr>
        <p:spPr>
          <a:xfrm>
            <a:off x="6667500" y="193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代码段：餐厅菜单</a:t>
            </a:r>
            <a:endParaRPr lang="en-US" sz="1100"/>
          </a:p>
        </p:txBody>
      </p:sp>
      <p:cxnSp>
        <p:nvCxnSpPr>
          <p:cNvPr id="12" name="Connector 10"/>
          <p:cNvCxnSpPr/>
          <p:nvPr/>
        </p:nvCxnSpPr>
        <p:spPr>
          <a:xfrm rot="-17998">
            <a:off x="6248417" y="2406650"/>
            <a:ext cx="2425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1"/>
          <p:cNvSpPr/>
          <p:nvPr/>
        </p:nvSpPr>
        <p:spPr>
          <a:xfrm>
            <a:off x="6223000" y="2540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存储机器指令和字符串常量，如同餐厅的菜单，只供阅读参考，程序运行时不允许修改，是只读区域。</a:t>
            </a:r>
            <a:endParaRPr lang="en-US" sz="1100"/>
          </a:p>
        </p:txBody>
      </p:sp>
      <p:sp>
        <p:nvSpPr>
          <p:cNvPr id="14" name="AutoShape 12"/>
          <p:cNvSpPr/>
          <p:nvPr/>
        </p:nvSpPr>
        <p:spPr>
          <a:xfrm>
            <a:off x="9017000" y="1778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9400" y="1930400"/>
            <a:ext cx="304800" cy="304800"/>
          </a:xfrm>
          <a:prstGeom prst="rect">
            <a:avLst/>
          </a:prstGeom>
        </p:spPr>
      </p:pic>
      <p:sp>
        <p:nvSpPr>
          <p:cNvPr id="16" name="AutoShape 14"/>
          <p:cNvSpPr/>
          <p:nvPr/>
        </p:nvSpPr>
        <p:spPr>
          <a:xfrm>
            <a:off x="9588500" y="1930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数据段：食材仓库</a:t>
            </a:r>
            <a:endParaRPr lang="en-US" sz="1100"/>
          </a:p>
        </p:txBody>
      </p:sp>
      <p:cxnSp>
        <p:nvCxnSpPr>
          <p:cNvPr id="17" name="Connector 15"/>
          <p:cNvCxnSpPr/>
          <p:nvPr/>
        </p:nvCxnSpPr>
        <p:spPr>
          <a:xfrm rot="-17998">
            <a:off x="9169417" y="2406650"/>
            <a:ext cx="2425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6"/>
          <p:cNvSpPr/>
          <p:nvPr/>
        </p:nvSpPr>
        <p:spPr>
          <a:xfrm>
            <a:off x="9144000" y="2540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存放全局变量和静态变量，就像餐厅的仓库，食材在营业前准备好，营业结束后统一清理，由系统自动分配和释放。</a:t>
            </a:r>
            <a:endParaRPr lang="en-US" sz="1100"/>
          </a:p>
        </p:txBody>
      </p:sp>
      <p:sp>
        <p:nvSpPr>
          <p:cNvPr id="19" name="AutoShape 17"/>
          <p:cNvSpPr/>
          <p:nvPr/>
        </p:nvSpPr>
        <p:spPr>
          <a:xfrm>
            <a:off x="6096000" y="4064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8400" y="4216400"/>
            <a:ext cx="304800" cy="304800"/>
          </a:xfrm>
          <a:prstGeom prst="rect">
            <a:avLst/>
          </a:prstGeom>
        </p:spPr>
      </p:pic>
      <p:sp>
        <p:nvSpPr>
          <p:cNvPr id="21" name="AutoShape 19"/>
          <p:cNvSpPr/>
          <p:nvPr/>
        </p:nvSpPr>
        <p:spPr>
          <a:xfrm>
            <a:off x="6667500" y="4216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栈：临时餐盘区</a:t>
            </a:r>
            <a:endParaRPr lang="en-US" sz="1100"/>
          </a:p>
        </p:txBody>
      </p:sp>
      <p:cxnSp>
        <p:nvCxnSpPr>
          <p:cNvPr id="22" name="Connector 20"/>
          <p:cNvCxnSpPr/>
          <p:nvPr/>
        </p:nvCxnSpPr>
        <p:spPr>
          <a:xfrm rot="-17998">
            <a:off x="6248417" y="4692650"/>
            <a:ext cx="2425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1"/>
          <p:cNvSpPr/>
          <p:nvPr/>
        </p:nvSpPr>
        <p:spPr>
          <a:xfrm>
            <a:off x="6223000" y="4826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存储局部变量和函数参数，类似顾客用餐的餐盘，用完即收，空间小但存取速度快，由系统自动管理生命周期。</a:t>
            </a:r>
            <a:endParaRPr lang="en-US" sz="1100"/>
          </a:p>
        </p:txBody>
      </p:sp>
      <p:sp>
        <p:nvSpPr>
          <p:cNvPr id="24" name="AutoShape 22"/>
          <p:cNvSpPr/>
          <p:nvPr/>
        </p:nvSpPr>
        <p:spPr>
          <a:xfrm>
            <a:off x="9017000" y="4064000"/>
            <a:ext cx="273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69400" y="4216400"/>
            <a:ext cx="304800" cy="304800"/>
          </a:xfrm>
          <a:prstGeom prst="rect">
            <a:avLst/>
          </a:prstGeom>
        </p:spPr>
      </p:pic>
      <p:sp>
        <p:nvSpPr>
          <p:cNvPr id="26" name="AutoShape 24"/>
          <p:cNvSpPr/>
          <p:nvPr/>
        </p:nvSpPr>
        <p:spPr>
          <a:xfrm>
            <a:off x="9588500" y="42164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堆：自助取餐区</a:t>
            </a:r>
            <a:endParaRPr lang="en-US" sz="1100"/>
          </a:p>
        </p:txBody>
      </p:sp>
      <p:cxnSp>
        <p:nvCxnSpPr>
          <p:cNvPr id="27" name="Connector 25"/>
          <p:cNvCxnSpPr/>
          <p:nvPr/>
        </p:nvCxnSpPr>
        <p:spPr>
          <a:xfrm rot="-17998">
            <a:off x="9169417" y="4692650"/>
            <a:ext cx="2425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6"/>
          <p:cNvSpPr/>
          <p:nvPr/>
        </p:nvSpPr>
        <p:spPr>
          <a:xfrm>
            <a:off x="9144000" y="4826000"/>
            <a:ext cx="2476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用于动态分配内存，好比餐厅的自助区，空间灵活但需要自己按需取餐和归还，必须手动管理，否则会造成内存泄漏。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331933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latin typeface="Noto Sans SC"/>
                <a:ea typeface="Noto Sans SC"/>
                <a:cs typeface="Noto Sans SC"/>
                <a:sym typeface="Noto Sans SC"/>
              </a:rPr>
              <a:t>内存四区详解：代码段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altLang="zh-CN" sz="3200" b="1" dirty="0" err="1" smtClean="0">
                <a:latin typeface="Noto Sans SC"/>
                <a:ea typeface="Noto Sans SC"/>
                <a:cs typeface="Noto Sans SC"/>
                <a:sym typeface="Noto Sans SC"/>
              </a:rPr>
              <a:t>数据段</a:t>
            </a: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（了解）</a:t>
            </a:r>
            <a:endParaRPr lang="en-US" altLang="zh-CN" sz="1100" dirty="0"/>
          </a:p>
        </p:txBody>
      </p:sp>
      <p:sp>
        <p:nvSpPr>
          <p:cNvPr id="5" name="AutoShape 4"/>
          <p:cNvSpPr/>
          <p:nvPr/>
        </p:nvSpPr>
        <p:spPr>
          <a:xfrm>
            <a:off x="635000" y="1537252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1727752"/>
            <a:ext cx="355600" cy="3556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1397000" y="1689652"/>
            <a:ext cx="4254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代码段 (Text Segment)</a:t>
            </a:r>
            <a:endParaRPr lang="en-US" sz="1100"/>
          </a:p>
        </p:txBody>
      </p:sp>
      <p:cxnSp>
        <p:nvCxnSpPr>
          <p:cNvPr id="8" name="Connector 7"/>
          <p:cNvCxnSpPr/>
          <p:nvPr/>
        </p:nvCxnSpPr>
        <p:spPr>
          <a:xfrm rot="-9167">
            <a:off x="889008" y="2292902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8"/>
          <p:cNvSpPr/>
          <p:nvPr/>
        </p:nvSpPr>
        <p:spPr>
          <a:xfrm>
            <a:off x="889000" y="2553252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代码段是只读且可执行的内存区域，专门用于存放CPU执行的机器指令和程序中的常量数据。该区域的内容在程序运行期间不可被修改，任何写入操作都会触发段错误（Segmentation Fault）。</a:t>
            </a:r>
            <a:endParaRPr lang="en-US" sz="1100"/>
          </a:p>
        </p:txBody>
      </p:sp>
      <p:sp>
        <p:nvSpPr>
          <p:cNvPr id="10" name="AutoShape 9"/>
          <p:cNvSpPr/>
          <p:nvPr/>
        </p:nvSpPr>
        <p:spPr>
          <a:xfrm>
            <a:off x="889000" y="4077252"/>
            <a:ext cx="4762500" cy="1016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0"/>
          <p:cNvSpPr/>
          <p:nvPr/>
        </p:nvSpPr>
        <p:spPr>
          <a:xfrm>
            <a:off x="1016000" y="4178852"/>
            <a:ext cx="4508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  <a:t>char* str = "Hello, World!"; // 字符串常量存于代码段</a:t>
            </a:r>
            <a:b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  <a:t>// str[0] = 'h'; // 错误：尝试修改只读内存将导致崩溃</a:t>
            </a:r>
            <a:endParaRPr lang="en-US" sz="1100"/>
          </a:p>
        </p:txBody>
      </p:sp>
      <p:sp>
        <p:nvSpPr>
          <p:cNvPr id="12" name="AutoShape 11"/>
          <p:cNvSpPr/>
          <p:nvPr/>
        </p:nvSpPr>
        <p:spPr>
          <a:xfrm>
            <a:off x="6159500" y="1537252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1727752"/>
            <a:ext cx="355600" cy="355600"/>
          </a:xfrm>
          <a:prstGeom prst="rect">
            <a:avLst/>
          </a:prstGeom>
        </p:spPr>
      </p:pic>
      <p:sp>
        <p:nvSpPr>
          <p:cNvPr id="14" name="AutoShape 13"/>
          <p:cNvSpPr/>
          <p:nvPr/>
        </p:nvSpPr>
        <p:spPr>
          <a:xfrm>
            <a:off x="6921500" y="1689652"/>
            <a:ext cx="4254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数据段 (Data Segment)</a:t>
            </a:r>
            <a:endParaRPr lang="en-US" sz="1100"/>
          </a:p>
        </p:txBody>
      </p:sp>
      <p:cxnSp>
        <p:nvCxnSpPr>
          <p:cNvPr id="15" name="Connector 14"/>
          <p:cNvCxnSpPr/>
          <p:nvPr/>
        </p:nvCxnSpPr>
        <p:spPr>
          <a:xfrm rot="-9167">
            <a:off x="6413508" y="2292902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5"/>
          <p:cNvSpPr/>
          <p:nvPr/>
        </p:nvSpPr>
        <p:spPr>
          <a:xfrm>
            <a:off x="6413500" y="2553252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存储全局变量和静态变量，分为已初始化的.data段和未初始化的.bss段。系统会在程序加载时，自动将 .bss 段中的变量初始化为0，这是操作系统为我们做的优化。</a:t>
            </a:r>
            <a:endParaRPr lang="en-US" sz="1100"/>
          </a:p>
        </p:txBody>
      </p:sp>
      <p:sp>
        <p:nvSpPr>
          <p:cNvPr id="17" name="AutoShape 16"/>
          <p:cNvSpPr/>
          <p:nvPr/>
        </p:nvSpPr>
        <p:spPr>
          <a:xfrm>
            <a:off x="6413500" y="4077252"/>
            <a:ext cx="4762500" cy="1016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7"/>
          <p:cNvSpPr/>
          <p:nvPr/>
        </p:nvSpPr>
        <p:spPr>
          <a:xfrm>
            <a:off x="6540500" y="4178852"/>
            <a:ext cx="4508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  <a:t>int g_init = 100; // .data 段 (已初始化)</a:t>
            </a:r>
            <a:b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  <a:t>int g_uninit; // .bss 段 (默认初始化为0)</a:t>
            </a:r>
            <a:b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latin typeface="Roboto Mono"/>
                <a:ea typeface="Roboto Mono"/>
                <a:cs typeface="Roboto Mono"/>
                <a:sym typeface="Roboto Mono"/>
              </a:rPr>
              <a:t>static int s_val = 200; // .data 段 (静态变量)</a:t>
            </a:r>
            <a:endParaRPr lang="en-US" sz="1100"/>
          </a:p>
        </p:txBody>
      </p:sp>
      <p:sp>
        <p:nvSpPr>
          <p:cNvPr id="19" name="AutoShape 18"/>
          <p:cNvSpPr/>
          <p:nvPr/>
        </p:nvSpPr>
        <p:spPr>
          <a:xfrm>
            <a:off x="635000" y="5474252"/>
            <a:ext cx="10795000" cy="762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19"/>
          <p:cNvSpPr/>
          <p:nvPr/>
        </p:nvSpPr>
        <p:spPr>
          <a:xfrm>
            <a:off x="635000" y="5474252"/>
            <a:ext cx="50800" cy="7620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0"/>
          <p:cNvSpPr/>
          <p:nvPr/>
        </p:nvSpPr>
        <p:spPr>
          <a:xfrm>
            <a:off x="889000" y="5537752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核心区别：代码段承载程序“逻辑”，只读不可写；数据段承载程序“状态”，分为已初始化与未初始化区域，是程序运行时全局数据的存储基石。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3702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 smtClean="0">
                <a:latin typeface="Noto Sans SC"/>
                <a:ea typeface="Noto Sans SC"/>
                <a:cs typeface="Noto Sans SC"/>
                <a:sym typeface="Noto Sans SC"/>
              </a:rPr>
              <a:t>内存四区详解</a:t>
            </a:r>
            <a:r>
              <a:rPr lang="en-US" altLang="zh-CN" sz="3200" b="1" dirty="0" err="1">
                <a:latin typeface="Noto Sans SC"/>
                <a:ea typeface="Noto Sans SC"/>
                <a:cs typeface="Noto Sans SC"/>
                <a:sym typeface="Noto Sans SC"/>
              </a:rPr>
              <a:t>：栈</a:t>
            </a:r>
            <a:r>
              <a:rPr lang="en-US" altLang="zh-CN" sz="3200" b="1" dirty="0"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altLang="zh-CN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堆</a:t>
            </a: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（了解）</a:t>
            </a:r>
            <a:endParaRPr lang="en-US" altLang="zh-CN" sz="3200" b="1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5990" b="5990"/>
          <a:stretch>
            <a:fillRect/>
          </a:stretch>
        </p:blipFill>
        <p:spPr>
          <a:xfrm>
            <a:off x="762000" y="1651000"/>
            <a:ext cx="4826000" cy="2540000"/>
          </a:xfrm>
          <a:prstGeom prst="rect">
            <a:avLst/>
          </a:prstGeom>
          <a:noFill/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597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4572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后进先出的临时空间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函数调用时创建栈帧存放局部变量与参数，函数结束自动销毁，无需手动管理内存。</a:t>
            </a:r>
          </a:p>
        </p:txBody>
      </p:sp>
      <p:pic>
        <p:nvPicPr>
          <p:cNvPr id="8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740400"/>
            <a:ext cx="304800" cy="304800"/>
          </a:xfrm>
          <a:prstGeom prst="rect">
            <a:avLst/>
          </a:prstGeom>
        </p:spPr>
      </p:pic>
      <p:sp>
        <p:nvSpPr>
          <p:cNvPr id="9" name="AutoShape 10"/>
          <p:cNvSpPr/>
          <p:nvPr/>
        </p:nvSpPr>
        <p:spPr>
          <a:xfrm>
            <a:off x="1397000" y="5715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空间受限，易发生栈溢出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空间通常仅几MB，过大的局部数组或无限递归会导致崩溃；返回局部变量地址会引发野指针。</a:t>
            </a:r>
          </a:p>
        </p:txBody>
      </p:sp>
      <p:cxnSp>
        <p:nvCxnSpPr>
          <p:cNvPr id="10" name="Connector 11"/>
          <p:cNvCxnSpPr/>
          <p:nvPr/>
        </p:nvCxnSpPr>
        <p:spPr>
          <a:xfrm rot="5390708">
            <a:off x="3746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2"/>
          <p:cNvSpPr/>
          <p:nvPr/>
        </p:nvSpPr>
        <p:spPr>
          <a:xfrm>
            <a:off x="6350000" y="16510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13" name="AutoShape 14"/>
          <p:cNvSpPr/>
          <p:nvPr/>
        </p:nvSpPr>
        <p:spPr>
          <a:xfrm>
            <a:off x="7048500" y="17780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灵活的动态内存池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堆提供了远大于栈的内存空间，用于存储生命周期较长或大小不确定的数据，是实现复杂数据结构的基础。</a:t>
            </a:r>
          </a:p>
        </p:txBody>
      </p:sp>
      <p:sp>
        <p:nvSpPr>
          <p:cNvPr id="14" name="AutoShape 15"/>
          <p:cNvSpPr/>
          <p:nvPr/>
        </p:nvSpPr>
        <p:spPr>
          <a:xfrm>
            <a:off x="6350000" y="32385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0500" y="3429000"/>
            <a:ext cx="355600" cy="355600"/>
          </a:xfrm>
          <a:prstGeom prst="rect">
            <a:avLst/>
          </a:prstGeom>
        </p:spPr>
      </p:pic>
      <p:sp>
        <p:nvSpPr>
          <p:cNvPr id="16" name="AutoShape 17"/>
          <p:cNvSpPr/>
          <p:nvPr/>
        </p:nvSpPr>
        <p:spPr>
          <a:xfrm>
            <a:off x="7048500" y="33655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手动申请与释放机制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需显式调用</a:t>
            </a:r>
            <a:r>
              <a:rPr lang="en-US" sz="13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malloc/calloc</a:t>
            </a: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申请内存，使用</a:t>
            </a:r>
            <a:r>
              <a:rPr lang="en-US" sz="13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free</a:t>
            </a: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释放。若忘记释放会造成内存泄漏，释放后继续使用则会导致野指针。</a:t>
            </a:r>
          </a:p>
        </p:txBody>
      </p:sp>
      <p:sp>
        <p:nvSpPr>
          <p:cNvPr id="17" name="AutoShape 18"/>
          <p:cNvSpPr/>
          <p:nvPr/>
        </p:nvSpPr>
        <p:spPr>
          <a:xfrm>
            <a:off x="6350000" y="4826000"/>
            <a:ext cx="5080000" cy="1270000"/>
          </a:xfrm>
          <a:prstGeom prst="roundRect">
            <a:avLst>
              <a:gd name="adj" fmla="val 0"/>
            </a:avLst>
          </a:prstGeom>
          <a:solidFill>
            <a:srgbClr val="00FFFF">
              <a:alpha val="8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40500" y="5016500"/>
            <a:ext cx="355600" cy="355600"/>
          </a:xfrm>
          <a:prstGeom prst="rect">
            <a:avLst/>
          </a:prstGeom>
        </p:spPr>
      </p:pic>
      <p:sp>
        <p:nvSpPr>
          <p:cNvPr id="19" name="AutoShape 20"/>
          <p:cNvSpPr/>
          <p:nvPr/>
        </p:nvSpPr>
        <p:spPr>
          <a:xfrm>
            <a:off x="7048500" y="4953000"/>
            <a:ext cx="425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跨函数的内存有效性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在堆上分配的内存，其生命周期不受函数作用域限制，即使函数执行完毕，内存依然有效，适合作为函数返回值传递复杂数据。</a:t>
            </a:r>
          </a:p>
        </p:txBody>
      </p:sp>
    </p:spTree>
    <p:extLst>
      <p:ext uri="{BB962C8B-B14F-4D97-AF65-F5344CB8AC3E}">
        <p14:creationId xmlns:p14="http://schemas.microsoft.com/office/powerpoint/2010/main" val="215867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基础数据类型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10068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内存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的基本组成单位</a:t>
            </a:r>
            <a:r>
              <a:rPr lang="en-US" altLang="zh-CN" sz="3200" b="1" dirty="0" smtClean="0">
                <a:latin typeface="Noto Sans SC"/>
                <a:ea typeface="Noto Sans SC"/>
                <a:sym typeface="Noto Sans SC"/>
              </a:rPr>
              <a:t>: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字节（字节对齐）</a:t>
            </a:r>
            <a:endParaRPr lang="en-US" altLang="zh-CN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517" y="1683855"/>
            <a:ext cx="7391400" cy="4305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25160"/>
            <a:ext cx="3118742" cy="131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0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定义一个变量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73" y="2068995"/>
            <a:ext cx="6743867" cy="366802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240105" y="2663959"/>
            <a:ext cx="4748695" cy="2031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</a:rPr>
              <a:t>变量的组成：变量的类型</a:t>
            </a:r>
            <a:r>
              <a:rPr lang="en-US" altLang="zh-CN" b="1" dirty="0">
                <a:solidFill>
                  <a:schemeClr val="accent2"/>
                </a:solidFill>
              </a:rPr>
              <a:t>+</a:t>
            </a:r>
            <a:r>
              <a:rPr lang="zh-CN" altLang="en-US" b="1" dirty="0">
                <a:solidFill>
                  <a:schemeClr val="accent2"/>
                </a:solidFill>
              </a:rPr>
              <a:t>变量的值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举例：</a:t>
            </a:r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 a = 20</a:t>
            </a:r>
            <a:r>
              <a:rPr lang="zh-CN" altLang="en-US" b="1" dirty="0">
                <a:solidFill>
                  <a:schemeClr val="accent2"/>
                </a:solidFill>
              </a:rPr>
              <a:t>；</a:t>
            </a:r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类型</a:t>
            </a:r>
            <a:r>
              <a:rPr lang="en-US" altLang="zh-CN" b="1" dirty="0">
                <a:solidFill>
                  <a:schemeClr val="accent2"/>
                </a:solidFill>
              </a:rPr>
              <a:t>: </a:t>
            </a: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zh-CN" altLang="en-US" b="1" dirty="0">
                <a:solidFill>
                  <a:schemeClr val="accent2"/>
                </a:solidFill>
              </a:rPr>
              <a:t>型</a:t>
            </a:r>
            <a:r>
              <a:rPr lang="en-US" altLang="zh-CN" b="1" dirty="0">
                <a:solidFill>
                  <a:schemeClr val="accent2"/>
                </a:solidFill>
              </a:rPr>
              <a:t>, </a:t>
            </a:r>
            <a:r>
              <a:rPr lang="zh-CN" altLang="en-US" b="1" dirty="0">
                <a:solidFill>
                  <a:schemeClr val="accent2"/>
                </a:solidFill>
              </a:rPr>
              <a:t>值</a:t>
            </a:r>
            <a:r>
              <a:rPr lang="en-US" altLang="zh-CN" b="1" dirty="0">
                <a:solidFill>
                  <a:schemeClr val="accent2"/>
                </a:solidFill>
              </a:rPr>
              <a:t>: 20</a:t>
            </a:r>
            <a:r>
              <a:rPr lang="zh-CN" altLang="en-US" b="1" dirty="0">
                <a:solidFill>
                  <a:schemeClr val="accent2"/>
                </a:solidFill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</a:rPr>
              <a:t>16</a:t>
            </a:r>
            <a:r>
              <a:rPr lang="zh-CN" altLang="en-US" b="1" dirty="0">
                <a:solidFill>
                  <a:schemeClr val="accent2"/>
                </a:solidFill>
              </a:rPr>
              <a:t>进制，显示为</a:t>
            </a:r>
            <a:r>
              <a:rPr lang="en-US" altLang="zh-CN" b="1" dirty="0">
                <a:solidFill>
                  <a:schemeClr val="accent2"/>
                </a:solidFill>
              </a:rPr>
              <a:t>14</a:t>
            </a:r>
            <a:r>
              <a:rPr lang="zh-CN" altLang="en-US" b="1" dirty="0">
                <a:solidFill>
                  <a:schemeClr val="accent2"/>
                </a:solidFill>
              </a:rPr>
              <a:t>）</a:t>
            </a:r>
            <a:endParaRPr lang="en-US" altLang="zh-CN" b="1" dirty="0">
              <a:solidFill>
                <a:schemeClr val="accent2"/>
              </a:solidFill>
            </a:endParaRPr>
          </a:p>
          <a:p>
            <a:endParaRPr lang="en-US" altLang="zh-CN" b="1" dirty="0">
              <a:solidFill>
                <a:schemeClr val="accent2"/>
              </a:solidFill>
            </a:endParaRPr>
          </a:p>
          <a:p>
            <a:r>
              <a:rPr lang="zh-CN" altLang="en-US" b="1" dirty="0">
                <a:solidFill>
                  <a:schemeClr val="accent2"/>
                </a:solidFill>
              </a:rPr>
              <a:t>内存中的存储模型如左图所示</a:t>
            </a:r>
          </a:p>
        </p:txBody>
      </p:sp>
    </p:spTree>
    <p:extLst>
      <p:ext uri="{BB962C8B-B14F-4D97-AF65-F5344CB8AC3E}">
        <p14:creationId xmlns:p14="http://schemas.microsoft.com/office/powerpoint/2010/main" val="410656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基础数据类型的内存占用（</a:t>
            </a:r>
            <a:r>
              <a:rPr lang="en-US" altLang="zh-CN" sz="3200" b="1" dirty="0" err="1" smtClean="0">
                <a:latin typeface="Noto Sans SC"/>
                <a:ea typeface="Noto Sans SC"/>
                <a:sym typeface="Noto Sans SC"/>
              </a:rPr>
              <a:t>sizeof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函数）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矩形 3"/>
          <p:cNvSpPr/>
          <p:nvPr/>
        </p:nvSpPr>
        <p:spPr>
          <a:xfrm>
            <a:off x="372166" y="1527316"/>
            <a:ext cx="6096000" cy="42473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#include "</a:t>
            </a:r>
            <a:r>
              <a:rPr lang="en-US" altLang="zh-CN" b="1" dirty="0" err="1">
                <a:solidFill>
                  <a:schemeClr val="accent2"/>
                </a:solidFill>
              </a:rPr>
              <a:t>stdio.h</a:t>
            </a:r>
            <a:r>
              <a:rPr lang="en-US" altLang="zh-CN" b="1" dirty="0">
                <a:solidFill>
                  <a:schemeClr val="accent2"/>
                </a:solidFill>
              </a:rPr>
              <a:t>" </a:t>
            </a:r>
          </a:p>
          <a:p>
            <a:pPr>
              <a:defRPr/>
            </a:pPr>
            <a:endParaRPr lang="en-US" altLang="zh-CN" b="1" dirty="0">
              <a:solidFill>
                <a:schemeClr val="accent2"/>
              </a:solidFill>
            </a:endParaRPr>
          </a:p>
          <a:p>
            <a:pPr>
              <a:defRPr/>
            </a:pP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 main() {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char: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(char));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short: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(short));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</a:t>
            </a: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</a:t>
            </a:r>
            <a:r>
              <a:rPr lang="en-US" altLang="zh-CN" b="1" dirty="0" err="1">
                <a:solidFill>
                  <a:schemeClr val="accent2"/>
                </a:solidFill>
              </a:rPr>
              <a:t>int</a:t>
            </a:r>
            <a:r>
              <a:rPr lang="en-US" altLang="zh-CN" b="1" dirty="0">
                <a:solidFill>
                  <a:schemeClr val="accent2"/>
                </a:solidFill>
              </a:rPr>
              <a:t>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long: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(long));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long </a:t>
            </a:r>
            <a:r>
              <a:rPr lang="en-US" altLang="zh-CN" b="1" dirty="0" err="1">
                <a:solidFill>
                  <a:schemeClr val="accent2"/>
                </a:solidFill>
              </a:rPr>
              <a:t>long</a:t>
            </a:r>
            <a:r>
              <a:rPr lang="en-US" altLang="zh-CN" b="1" dirty="0">
                <a:solidFill>
                  <a:schemeClr val="accent2"/>
                </a:solidFill>
              </a:rPr>
              <a:t>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(long long));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float: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(float));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double: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(double));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</a:t>
            </a:r>
            <a:r>
              <a:rPr lang="en-US" altLang="zh-CN" b="1" dirty="0" err="1">
                <a:solidFill>
                  <a:schemeClr val="accent2"/>
                </a:solidFill>
              </a:rPr>
              <a:t>printf</a:t>
            </a:r>
            <a:r>
              <a:rPr lang="en-US" altLang="zh-CN" b="1" dirty="0">
                <a:solidFill>
                  <a:schemeClr val="accent2"/>
                </a:solidFill>
              </a:rPr>
              <a:t>("Size of long double: %d  bytes\n", </a:t>
            </a:r>
            <a:r>
              <a:rPr lang="en-US" altLang="zh-CN" b="1" dirty="0" err="1">
                <a:solidFill>
                  <a:schemeClr val="accent2"/>
                </a:solidFill>
              </a:rPr>
              <a:t>sizeof</a:t>
            </a:r>
            <a:r>
              <a:rPr lang="en-US" altLang="zh-CN" b="1" dirty="0">
                <a:solidFill>
                  <a:schemeClr val="accent2"/>
                </a:solidFill>
              </a:rPr>
              <a:t>(long double));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    return 0;</a:t>
            </a:r>
          </a:p>
          <a:p>
            <a:pPr>
              <a:defRPr/>
            </a:pPr>
            <a:r>
              <a:rPr lang="en-US" altLang="zh-CN" b="1" dirty="0">
                <a:solidFill>
                  <a:schemeClr val="accent2"/>
                </a:solidFill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637" y="2538412"/>
            <a:ext cx="3981450" cy="19335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72166" y="6159500"/>
            <a:ext cx="11420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说明：</a:t>
            </a:r>
            <a:r>
              <a:rPr lang="en-US" altLang="zh-CN" b="1" dirty="0" smtClean="0"/>
              <a:t>32</a:t>
            </a:r>
            <a:r>
              <a:rPr lang="zh-CN" altLang="en-US" b="1" dirty="0" smtClean="0"/>
              <a:t>位和</a:t>
            </a:r>
            <a:r>
              <a:rPr lang="en-US" altLang="zh-CN" b="1" dirty="0" smtClean="0"/>
              <a:t>64</a:t>
            </a:r>
            <a:r>
              <a:rPr lang="zh-CN" altLang="en-US" b="1" dirty="0" smtClean="0"/>
              <a:t>位，相同的数据类型也有可能不同，比如</a:t>
            </a:r>
            <a:r>
              <a:rPr lang="en-US" altLang="zh-CN" b="1" dirty="0" smtClean="0"/>
              <a:t>32</a:t>
            </a:r>
            <a:r>
              <a:rPr lang="zh-CN" altLang="en-US" b="1" dirty="0" smtClean="0"/>
              <a:t>系统，</a:t>
            </a:r>
            <a:r>
              <a:rPr lang="en-US" altLang="zh-CN" b="1" dirty="0"/>
              <a:t>l</a:t>
            </a:r>
            <a:r>
              <a:rPr lang="en-US" altLang="zh-CN" b="1" dirty="0" smtClean="0"/>
              <a:t>ong</a:t>
            </a:r>
            <a:r>
              <a:rPr lang="zh-CN" altLang="en-US" b="1" dirty="0" smtClean="0"/>
              <a:t>为</a:t>
            </a:r>
            <a:r>
              <a:rPr lang="en-US" altLang="zh-CN" b="1" dirty="0"/>
              <a:t>4</a:t>
            </a:r>
            <a:r>
              <a:rPr lang="zh-CN" altLang="en-US" b="1" dirty="0" smtClean="0"/>
              <a:t>字节</a:t>
            </a:r>
            <a:r>
              <a:rPr lang="en-US" altLang="zh-CN" b="1" dirty="0" smtClean="0"/>
              <a:t>,</a:t>
            </a:r>
            <a:r>
              <a:rPr lang="zh-CN" altLang="en-US" b="1" dirty="0" smtClean="0"/>
              <a:t>在</a:t>
            </a:r>
            <a:r>
              <a:rPr lang="en-US" altLang="zh-CN" b="1" dirty="0" smtClean="0"/>
              <a:t>64</a:t>
            </a:r>
            <a:r>
              <a:rPr lang="zh-CN" altLang="en-US" b="1" dirty="0" smtClean="0"/>
              <a:t>位系统中，</a:t>
            </a:r>
            <a:r>
              <a:rPr lang="en-US" altLang="zh-CN" b="1" dirty="0" smtClean="0"/>
              <a:t>long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8</a:t>
            </a:r>
            <a:r>
              <a:rPr lang="zh-CN" altLang="en-US" b="1" dirty="0" smtClean="0"/>
              <a:t>字节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91520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格式化输入和输出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97" y="1484036"/>
            <a:ext cx="10131024" cy="423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4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4000" b="1" dirty="0" err="1">
                <a:latin typeface="Noto Sans SC"/>
                <a:ea typeface="Noto Sans SC"/>
                <a:cs typeface="Noto Sans SC"/>
                <a:sym typeface="Noto Sans SC"/>
              </a:rPr>
              <a:t>指针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9"/>
          <p:cNvSpPr/>
          <p:nvPr/>
        </p:nvSpPr>
        <p:spPr>
          <a:xfrm>
            <a:off x="1016000" y="533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16666"/>
              </a:lnSpc>
              <a:defRPr/>
            </a:pPr>
            <a:r>
              <a:rPr lang="en-US" altLang="zh-CN" sz="1600" dirty="0" err="1">
                <a:latin typeface="Noto Sans SC"/>
                <a:ea typeface="Noto Sans SC"/>
                <a:cs typeface="Noto Sans SC"/>
                <a:sym typeface="Noto Sans SC"/>
              </a:rPr>
              <a:t>掌握内存地址的访问与操作，解锁底层编程的关键密钥，探索高效代码的核心逻辑</a:t>
            </a:r>
            <a:r>
              <a:rPr lang="en-US" altLang="zh-CN" sz="1600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365753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指针的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定义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7" y="1513877"/>
            <a:ext cx="5231929" cy="28829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795825" y="1662665"/>
            <a:ext cx="6126714" cy="313932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zh-CN" dirty="0" smtClean="0"/>
              <a:t>int main() {</a:t>
            </a:r>
          </a:p>
          <a:p>
            <a:pPr lvl="1"/>
            <a:r>
              <a:rPr lang="pt-BR" altLang="zh-CN" dirty="0" smtClean="0"/>
              <a:t>int a = 20;  // </a:t>
            </a:r>
            <a:r>
              <a:rPr lang="zh-CN" altLang="en-US" dirty="0" smtClean="0"/>
              <a:t>定义</a:t>
            </a:r>
            <a:r>
              <a:rPr lang="pt-BR" altLang="zh-CN" dirty="0" smtClean="0"/>
              <a:t>int</a:t>
            </a:r>
            <a:r>
              <a:rPr lang="zh-CN" altLang="en-US" dirty="0" smtClean="0"/>
              <a:t>的变量 </a:t>
            </a:r>
            <a:r>
              <a:rPr lang="pt-BR" altLang="zh-CN" dirty="0" smtClean="0"/>
              <a:t>a </a:t>
            </a:r>
          </a:p>
          <a:p>
            <a:pPr lvl="1"/>
            <a:r>
              <a:rPr lang="pt-BR" altLang="zh-CN" dirty="0" smtClean="0">
                <a:solidFill>
                  <a:srgbClr val="FF0000"/>
                </a:solidFill>
              </a:rPr>
              <a:t>int *pa;     // </a:t>
            </a:r>
            <a:r>
              <a:rPr lang="zh-CN" altLang="en-US" dirty="0" smtClean="0">
                <a:solidFill>
                  <a:srgbClr val="FF0000"/>
                </a:solidFill>
              </a:rPr>
              <a:t>定义</a:t>
            </a:r>
            <a:r>
              <a:rPr lang="pt-BR" altLang="zh-CN" dirty="0" smtClean="0">
                <a:solidFill>
                  <a:srgbClr val="FF0000"/>
                </a:solidFill>
              </a:rPr>
              <a:t>int*</a:t>
            </a:r>
            <a:r>
              <a:rPr lang="zh-CN" altLang="en-US" dirty="0" smtClean="0">
                <a:solidFill>
                  <a:srgbClr val="FF0000"/>
                </a:solidFill>
              </a:rPr>
              <a:t>的指针变量 </a:t>
            </a:r>
            <a:r>
              <a:rPr lang="pt-BR" altLang="zh-CN" dirty="0" smtClean="0">
                <a:solidFill>
                  <a:srgbClr val="FF0000"/>
                </a:solidFill>
              </a:rPr>
              <a:t>pa </a:t>
            </a:r>
          </a:p>
          <a:p>
            <a:pPr lvl="1"/>
            <a:r>
              <a:rPr lang="pt-BR" altLang="zh-CN" dirty="0" smtClean="0">
                <a:solidFill>
                  <a:srgbClr val="FF0000"/>
                </a:solidFill>
              </a:rPr>
              <a:t>pa = &amp;a;     // </a:t>
            </a:r>
            <a:r>
              <a:rPr lang="zh-CN" altLang="en-US" dirty="0" smtClean="0">
                <a:solidFill>
                  <a:srgbClr val="FF0000"/>
                </a:solidFill>
              </a:rPr>
              <a:t>将</a:t>
            </a:r>
            <a:r>
              <a:rPr lang="pt-BR" altLang="zh-CN" dirty="0" smtClean="0">
                <a:solidFill>
                  <a:srgbClr val="FF0000"/>
                </a:solidFill>
              </a:rPr>
              <a:t>a</a:t>
            </a:r>
            <a:r>
              <a:rPr lang="zh-CN" altLang="en-US" dirty="0" smtClean="0">
                <a:solidFill>
                  <a:srgbClr val="FF0000"/>
                </a:solidFill>
              </a:rPr>
              <a:t>的地址赋值给</a:t>
            </a:r>
            <a:r>
              <a:rPr lang="pt-BR" altLang="zh-CN" dirty="0" smtClean="0">
                <a:solidFill>
                  <a:srgbClr val="FF0000"/>
                </a:solidFill>
              </a:rPr>
              <a:t>pa</a:t>
            </a:r>
          </a:p>
          <a:p>
            <a:pPr lvl="1"/>
            <a:r>
              <a:rPr lang="pt-BR" altLang="zh-CN" dirty="0" smtClean="0">
                <a:solidFill>
                  <a:srgbClr val="FF0000"/>
                </a:solidFill>
              </a:rPr>
              <a:t>*</a:t>
            </a:r>
            <a:r>
              <a:rPr lang="en-US" altLang="zh-CN" dirty="0" smtClean="0">
                <a:solidFill>
                  <a:srgbClr val="FF0000"/>
                </a:solidFill>
              </a:rPr>
              <a:t>pa = 33;</a:t>
            </a:r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 err="1" smtClean="0">
                <a:solidFill>
                  <a:srgbClr val="FF0000"/>
                </a:solidFill>
              </a:rPr>
              <a:t>nt</a:t>
            </a:r>
            <a:r>
              <a:rPr lang="en-US" altLang="zh-CN" dirty="0" smtClean="0">
                <a:solidFill>
                  <a:srgbClr val="FF0000"/>
                </a:solidFill>
              </a:rPr>
              <a:t> c= *pa;</a:t>
            </a:r>
            <a:endParaRPr lang="pt-BR" altLang="zh-CN" dirty="0" smtClean="0">
              <a:solidFill>
                <a:srgbClr val="FF0000"/>
              </a:solidFill>
            </a:endParaRPr>
          </a:p>
          <a:p>
            <a:pPr lvl="1"/>
            <a:r>
              <a:rPr lang="pt-BR" altLang="zh-CN" dirty="0" smtClean="0"/>
              <a:t>printf("a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(</a:t>
            </a:r>
            <a:r>
              <a:rPr lang="pt-BR" altLang="zh-CN" dirty="0" smtClean="0"/>
              <a:t>a) = %d \n", a);</a:t>
            </a:r>
          </a:p>
          <a:p>
            <a:pPr lvl="1"/>
            <a:r>
              <a:rPr lang="pt-BR" altLang="zh-CN" dirty="0" smtClean="0"/>
              <a:t>printf("a</a:t>
            </a:r>
            <a:r>
              <a:rPr lang="zh-CN" altLang="en-US" dirty="0" smtClean="0"/>
              <a:t>的地址</a:t>
            </a:r>
            <a:r>
              <a:rPr lang="en-US" altLang="zh-CN" dirty="0" smtClean="0"/>
              <a:t>(&amp;</a:t>
            </a:r>
            <a:r>
              <a:rPr lang="pt-BR" altLang="zh-CN" dirty="0" smtClean="0"/>
              <a:t>a) = %p \n", &amp;a);</a:t>
            </a:r>
          </a:p>
          <a:p>
            <a:pPr lvl="1"/>
            <a:r>
              <a:rPr lang="pt-BR" altLang="zh-CN" dirty="0" smtClean="0"/>
              <a:t>printf("pa</a:t>
            </a:r>
            <a:r>
              <a:rPr lang="zh-CN" altLang="en-US" dirty="0" smtClean="0"/>
              <a:t>的值</a:t>
            </a:r>
            <a:r>
              <a:rPr lang="en-US" altLang="zh-CN" dirty="0" smtClean="0"/>
              <a:t>(</a:t>
            </a:r>
            <a:r>
              <a:rPr lang="pt-BR" altLang="zh-CN" dirty="0" smtClean="0"/>
              <a:t>pa</a:t>
            </a:r>
            <a:r>
              <a:rPr lang="zh-CN" altLang="pt-BR" dirty="0" smtClean="0"/>
              <a:t>） </a:t>
            </a:r>
            <a:r>
              <a:rPr lang="pt-BR" altLang="zh-CN" dirty="0" smtClean="0"/>
              <a:t>= %p \n", pa);     // </a:t>
            </a:r>
            <a:r>
              <a:rPr lang="zh-CN" altLang="en-US" dirty="0" smtClean="0"/>
              <a:t>地址 </a:t>
            </a:r>
          </a:p>
          <a:p>
            <a:pPr lvl="1"/>
            <a:r>
              <a:rPr lang="pt-BR" altLang="zh-CN" dirty="0" smtClean="0"/>
              <a:t>printf("pa</a:t>
            </a:r>
            <a:r>
              <a:rPr lang="zh-CN" altLang="en-US" dirty="0" smtClean="0"/>
              <a:t>对应位置的值（*</a:t>
            </a:r>
            <a:r>
              <a:rPr lang="pt-BR" altLang="zh-CN" dirty="0" smtClean="0"/>
              <a:t>pa</a:t>
            </a:r>
            <a:r>
              <a:rPr lang="zh-CN" altLang="pt-BR" dirty="0" smtClean="0"/>
              <a:t>） </a:t>
            </a:r>
            <a:r>
              <a:rPr lang="pt-BR" altLang="zh-CN" dirty="0" smtClean="0"/>
              <a:t>= %d \n", *pa); //</a:t>
            </a:r>
            <a:r>
              <a:rPr lang="zh-CN" altLang="en-US" dirty="0" smtClean="0"/>
              <a:t>解引用 </a:t>
            </a:r>
          </a:p>
          <a:p>
            <a:r>
              <a:rPr lang="en-US" altLang="zh-CN" dirty="0" smtClean="0"/>
              <a:t>}</a:t>
            </a:r>
            <a:endParaRPr lang="pt-BR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4552351"/>
            <a:ext cx="3800475" cy="1114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936" y="4585091"/>
            <a:ext cx="3410490" cy="216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1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数组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341254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一维数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组基础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008" y="1325563"/>
            <a:ext cx="7224505" cy="507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617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463" y="1290969"/>
            <a:ext cx="7489963" cy="44114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一维数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组函数传参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357225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41" y="3375370"/>
            <a:ext cx="9629775" cy="2790825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一维数</a:t>
            </a: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组与指针</a:t>
            </a:r>
            <a:endParaRPr lang="en-US" altLang="zh-CN" sz="32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65496"/>
              </p:ext>
            </p:extLst>
          </p:nvPr>
        </p:nvGraphicFramePr>
        <p:xfrm>
          <a:off x="2084420" y="1620914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6435893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541045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2950655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74311778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3747430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20061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mtClean="0"/>
                        <a:t> 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 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705635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295548" y="16513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99945" y="2065940"/>
            <a:ext cx="108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a[0]</a:t>
            </a:r>
          </a:p>
          <a:p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15414" y="2053752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a[1]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995482" y="203843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a[2]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227864" y="2049000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a[3]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640814" y="18360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607932" y="2038384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a[4]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8988000" y="2041178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a[5]</a:t>
            </a:r>
            <a:endParaRPr lang="zh-CN" altLang="en-US" dirty="0"/>
          </a:p>
        </p:txBody>
      </p:sp>
      <p:sp>
        <p:nvSpPr>
          <p:cNvPr id="2" name="上箭头 1"/>
          <p:cNvSpPr/>
          <p:nvPr/>
        </p:nvSpPr>
        <p:spPr>
          <a:xfrm>
            <a:off x="1868557" y="2065940"/>
            <a:ext cx="243540" cy="7368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上箭头 15"/>
          <p:cNvSpPr/>
          <p:nvPr/>
        </p:nvSpPr>
        <p:spPr>
          <a:xfrm>
            <a:off x="6002077" y="2247343"/>
            <a:ext cx="243540" cy="7368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757966" y="260467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p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45617" y="2588523"/>
            <a:ext cx="108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dirty="0" smtClean="0">
                <a:solidFill>
                  <a:schemeClr val="accent2"/>
                </a:solidFill>
              </a:rPr>
              <a:t>[0]</a:t>
            </a:r>
          </a:p>
          <a:p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61086" y="2576335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dirty="0" smtClean="0">
                <a:solidFill>
                  <a:schemeClr val="accent2"/>
                </a:solidFill>
              </a:rPr>
              <a:t>[1]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041154" y="2561018"/>
            <a:ext cx="108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p</a:t>
            </a:r>
            <a:r>
              <a:rPr lang="en-US" altLang="zh-CN" dirty="0" smtClean="0">
                <a:solidFill>
                  <a:schemeClr val="accent2"/>
                </a:solidFill>
              </a:rPr>
              <a:t>[2]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99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sym typeface="Noto Sans SC"/>
              </a:rPr>
              <a:t>二维数</a:t>
            </a:r>
            <a:r>
              <a:rPr lang="zh-CN" altLang="en-US" sz="3200" b="1" dirty="0">
                <a:latin typeface="Noto Sans SC"/>
                <a:ea typeface="Noto Sans SC"/>
                <a:sym typeface="Noto Sans SC"/>
              </a:rPr>
              <a:t>组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857250" y="10080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763" y="1643063"/>
            <a:ext cx="7341672" cy="2867162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929489"/>
              </p:ext>
            </p:extLst>
          </p:nvPr>
        </p:nvGraphicFramePr>
        <p:xfrm>
          <a:off x="1272469" y="4710043"/>
          <a:ext cx="3335130" cy="979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710">
                  <a:extLst>
                    <a:ext uri="{9D8B030D-6E8A-4147-A177-3AD203B41FA5}">
                      <a16:colId xmlns:a16="http://schemas.microsoft.com/office/drawing/2014/main" val="1220380038"/>
                    </a:ext>
                  </a:extLst>
                </a:gridCol>
                <a:gridCol w="1111710">
                  <a:extLst>
                    <a:ext uri="{9D8B030D-6E8A-4147-A177-3AD203B41FA5}">
                      <a16:colId xmlns:a16="http://schemas.microsoft.com/office/drawing/2014/main" val="3269158210"/>
                    </a:ext>
                  </a:extLst>
                </a:gridCol>
                <a:gridCol w="1111710">
                  <a:extLst>
                    <a:ext uri="{9D8B030D-6E8A-4147-A177-3AD203B41FA5}">
                      <a16:colId xmlns:a16="http://schemas.microsoft.com/office/drawing/2014/main" val="4011839692"/>
                    </a:ext>
                  </a:extLst>
                </a:gridCol>
              </a:tblGrid>
              <a:tr h="48988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627316"/>
                  </a:ext>
                </a:extLst>
              </a:tr>
              <a:tr h="489882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39628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4999257" y="4710043"/>
            <a:ext cx="23839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accent2"/>
                </a:solidFill>
              </a:rPr>
              <a:t>注意：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r>
              <a:rPr lang="en-US" altLang="zh-CN" b="1" dirty="0" smtClean="0">
                <a:solidFill>
                  <a:schemeClr val="accent2"/>
                </a:solidFill>
              </a:rPr>
              <a:t>1</a:t>
            </a:r>
            <a:r>
              <a:rPr lang="zh-CN" altLang="en-US" b="1" dirty="0" smtClean="0">
                <a:solidFill>
                  <a:schemeClr val="accent2"/>
                </a:solidFill>
              </a:rPr>
              <a:t>）下标均从</a:t>
            </a:r>
            <a:r>
              <a:rPr lang="en-US" altLang="zh-CN" b="1" dirty="0" smtClean="0">
                <a:solidFill>
                  <a:schemeClr val="accent2"/>
                </a:solidFill>
              </a:rPr>
              <a:t>0</a:t>
            </a:r>
            <a:r>
              <a:rPr lang="zh-CN" altLang="en-US" b="1" dirty="0" smtClean="0">
                <a:solidFill>
                  <a:schemeClr val="accent2"/>
                </a:solidFill>
              </a:rPr>
              <a:t>开始</a:t>
            </a:r>
            <a:endParaRPr lang="en-US" altLang="zh-CN" b="1" dirty="0" smtClean="0">
              <a:solidFill>
                <a:schemeClr val="accent2"/>
              </a:solidFill>
            </a:endParaRPr>
          </a:p>
          <a:p>
            <a:r>
              <a:rPr lang="en-US" altLang="zh-CN" b="1" dirty="0" smtClean="0">
                <a:solidFill>
                  <a:schemeClr val="accent2"/>
                </a:solidFill>
              </a:rPr>
              <a:t>2</a:t>
            </a:r>
            <a:r>
              <a:rPr lang="zh-CN" altLang="en-US" b="1" dirty="0" smtClean="0">
                <a:solidFill>
                  <a:schemeClr val="accent2"/>
                </a:solidFill>
              </a:rPr>
              <a:t>）先</a:t>
            </a:r>
            <a:r>
              <a:rPr lang="en-US" altLang="zh-CN" b="1" dirty="0" smtClean="0">
                <a:solidFill>
                  <a:schemeClr val="accent2"/>
                </a:solidFill>
              </a:rPr>
              <a:t>【</a:t>
            </a:r>
            <a:r>
              <a:rPr lang="zh-CN" altLang="en-US" b="1" dirty="0" smtClean="0">
                <a:solidFill>
                  <a:schemeClr val="accent2"/>
                </a:solidFill>
              </a:rPr>
              <a:t>行</a:t>
            </a:r>
            <a:r>
              <a:rPr lang="en-US" altLang="zh-CN" b="1" dirty="0" smtClean="0">
                <a:solidFill>
                  <a:schemeClr val="accent2"/>
                </a:solidFill>
              </a:rPr>
              <a:t>】</a:t>
            </a:r>
            <a:r>
              <a:rPr lang="zh-CN" altLang="en-US" b="1" dirty="0" smtClean="0">
                <a:solidFill>
                  <a:schemeClr val="accent2"/>
                </a:solidFill>
              </a:rPr>
              <a:t>后</a:t>
            </a:r>
            <a:r>
              <a:rPr lang="en-US" altLang="zh-CN" b="1" dirty="0" smtClean="0">
                <a:solidFill>
                  <a:schemeClr val="accent2"/>
                </a:solidFill>
              </a:rPr>
              <a:t>【</a:t>
            </a:r>
            <a:r>
              <a:rPr lang="zh-CN" altLang="en-US" b="1" dirty="0" smtClean="0">
                <a:solidFill>
                  <a:schemeClr val="accent2"/>
                </a:solidFill>
              </a:rPr>
              <a:t>列</a:t>
            </a:r>
            <a:r>
              <a:rPr lang="en-US" altLang="zh-CN" b="1" dirty="0" smtClean="0">
                <a:solidFill>
                  <a:schemeClr val="accent2"/>
                </a:solidFill>
              </a:rPr>
              <a:t>】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049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字符串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224981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字符串的定义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05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C语言中没有原生的字符串类型。字符串本质上是以</a:t>
            </a: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空字符 `\0`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作为结束标志的`char`数组，所有字符串处理函数均通过该标志来判断字符串的结束位置。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302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141414">
              <a:alpha val="70000"/>
            </a:srgbClr>
          </a:solidFill>
          <a:ln w="12700" cap="flat" cmpd="sng">
            <a:solidFill>
              <a:srgbClr val="00F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char str1[] = "Hello"; // 编译器自动在末尾隐式添加 '\0' 结束符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char str2[6] = {'H','e','l','l','o','\0'}; // 手动初始化必须显式写入 '\0'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5080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52070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⚠️ 注意：若手动初始化字符数组时遗漏 `\0`，程序将无法正确识别字符串边界，可能导致读取到内存中的随机数据，引发不可预知的错误。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4191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rcRect l="6116" r="6116"/>
          <a:stretch>
            <a:fillRect/>
          </a:stretch>
        </p:blipFill>
        <p:spPr>
          <a:xfrm>
            <a:off x="6604000" y="1778000"/>
            <a:ext cx="4826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6040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4254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4216400"/>
            <a:ext cx="95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strlen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34376">
            <a:off x="6731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31000" y="4826000"/>
            <a:ext cx="127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计算字符串的实际有效长度，结果</a:t>
            </a:r>
            <a:r>
              <a:rPr lang="en-US" sz="1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不包含</a:t>
            </a: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末尾的结束符 `\0`。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00FFFF">
              <a:alpha val="10000"/>
            </a:srgbClr>
          </a:solidFill>
          <a:ln w="12700" cap="flat" cmpd="sng">
            <a:solidFill>
              <a:srgbClr val="00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4254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4216400"/>
            <a:ext cx="95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sizeof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34376">
            <a:off x="8382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4826000"/>
            <a:ext cx="127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返回整个数组占用的内存字节数，结果</a:t>
            </a:r>
            <a:r>
              <a:rPr lang="en-US" sz="12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包含</a:t>
            </a: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结束符 `\0` 和未使用空间。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906000" y="4064000"/>
            <a:ext cx="1524000" cy="2032000"/>
          </a:xfrm>
          <a:prstGeom prst="roundRect">
            <a:avLst>
              <a:gd name="adj" fmla="val 0"/>
            </a:avLst>
          </a:prstGeom>
          <a:solidFill>
            <a:srgbClr val="FF4D4F">
              <a:alpha val="10000"/>
            </a:srgbClr>
          </a:solidFill>
          <a:ln w="12700" cap="flat" cmpd="sng">
            <a:solidFill>
              <a:srgbClr val="FF4D4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33000" y="4254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414000" y="4216400"/>
            <a:ext cx="95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缓冲区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34376">
            <a:off x="10033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4D4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10033000" y="4826000"/>
            <a:ext cx="127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使用strcpy/strcat等函数时，务必确保目标数组有足够空间容纳数据和`\0`。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706848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字符串与指针</a:t>
            </a:r>
            <a:endParaRPr lang="en-US" altLang="zh-CN" sz="3200"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192" y="1243841"/>
            <a:ext cx="7439025" cy="25908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419" y="4217711"/>
            <a:ext cx="3571875" cy="2219325"/>
          </a:xfrm>
          <a:prstGeom prst="rect">
            <a:avLst/>
          </a:prstGeom>
        </p:spPr>
      </p:pic>
      <p:sp>
        <p:nvSpPr>
          <p:cNvPr id="29" name="右箭头 28"/>
          <p:cNvSpPr/>
          <p:nvPr/>
        </p:nvSpPr>
        <p:spPr>
          <a:xfrm>
            <a:off x="6010896" y="5078895"/>
            <a:ext cx="659295" cy="496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775" y="5350221"/>
            <a:ext cx="2076450" cy="33337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430949" y="470956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运行结果：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6690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787" y="1236663"/>
            <a:ext cx="6161087" cy="4607103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字符串的输入和输出（</a:t>
            </a:r>
            <a:r>
              <a:rPr lang="en-US" altLang="zh-CN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gets</a:t>
            </a: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puts)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050096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字符串的应用</a:t>
            </a:r>
            <a:endParaRPr lang="en-US" altLang="zh-CN" sz="32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640001"/>
              </p:ext>
            </p:extLst>
          </p:nvPr>
        </p:nvGraphicFramePr>
        <p:xfrm>
          <a:off x="660400" y="2121082"/>
          <a:ext cx="4317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76852"/>
              </p:ext>
            </p:extLst>
          </p:nvPr>
        </p:nvGraphicFramePr>
        <p:xfrm>
          <a:off x="660400" y="3430319"/>
          <a:ext cx="4317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D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59025" y="2121082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4273" y="3493803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sp>
        <p:nvSpPr>
          <p:cNvPr id="8" name="下箭头 7"/>
          <p:cNvSpPr/>
          <p:nvPr/>
        </p:nvSpPr>
        <p:spPr>
          <a:xfrm>
            <a:off x="2206212" y="1421295"/>
            <a:ext cx="434835" cy="5589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94640"/>
              </p:ext>
            </p:extLst>
          </p:nvPr>
        </p:nvGraphicFramePr>
        <p:xfrm>
          <a:off x="660400" y="4764692"/>
          <a:ext cx="431744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55764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55764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D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2766" y="4607088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45703"/>
              </p:ext>
            </p:extLst>
          </p:nvPr>
        </p:nvGraphicFramePr>
        <p:xfrm>
          <a:off x="660400" y="5979809"/>
          <a:ext cx="4317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81">
                  <a:extLst>
                    <a:ext uri="{9D8B030D-6E8A-4147-A177-3AD203B41FA5}">
                      <a16:colId xmlns:a16="http://schemas.microsoft.com/office/drawing/2014/main" val="281909772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236176914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61294575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672037666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39362662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1394074130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987740878"/>
                    </a:ext>
                  </a:extLst>
                </a:gridCol>
                <a:gridCol w="539681">
                  <a:extLst>
                    <a:ext uri="{9D8B030D-6E8A-4147-A177-3AD203B41FA5}">
                      <a16:colId xmlns:a16="http://schemas.microsoft.com/office/drawing/2014/main" val="35903219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D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\0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86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D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181061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20255" y="5979809"/>
            <a:ext cx="425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S1</a:t>
            </a:r>
          </a:p>
          <a:p>
            <a:r>
              <a:rPr lang="en-US" altLang="zh-CN" dirty="0" smtClean="0"/>
              <a:t>S2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641047" y="1421295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/>
              <a:t>找结束符号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84141" y="302251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第一轮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84141" y="43586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第二轮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60400" y="55892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第三轮</a:t>
            </a:r>
            <a:endParaRPr lang="zh-CN" altLang="en-US" dirty="0"/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82766" y="989678"/>
            <a:ext cx="69749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题目：以下程序的功能是：将两个字符串连接起来（将s2连接到s1后面）。</a:t>
            </a:r>
            <a:endParaRPr kumimoji="0" lang="zh-CN" altLang="zh-CN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30366" y="1410354"/>
            <a:ext cx="5023404" cy="54476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pt-BR" altLang="zh-CN" sz="1200" dirty="0"/>
              <a:t>#include &lt;iostream&gt;</a:t>
            </a:r>
          </a:p>
          <a:p>
            <a:r>
              <a:rPr lang="pt-BR" altLang="zh-CN" sz="1200" dirty="0"/>
              <a:t>#include &lt;stdio.h&gt;</a:t>
            </a:r>
          </a:p>
          <a:p>
            <a:r>
              <a:rPr lang="pt-BR" altLang="zh-CN" sz="1200" dirty="0"/>
              <a:t>int main(){</a:t>
            </a:r>
          </a:p>
          <a:p>
            <a:r>
              <a:rPr lang="pt-BR" altLang="zh-CN" sz="1200" dirty="0"/>
              <a:t>    char s1[80], s2[80];</a:t>
            </a:r>
          </a:p>
          <a:p>
            <a:r>
              <a:rPr lang="pt-BR" altLang="zh-CN" sz="1200" dirty="0"/>
              <a:t>    void scat(char s1[], char s2[]);</a:t>
            </a:r>
          </a:p>
          <a:p>
            <a:r>
              <a:rPr lang="pt-BR" altLang="zh-CN" sz="1200" dirty="0"/>
              <a:t>    printf("</a:t>
            </a:r>
            <a:r>
              <a:rPr lang="zh-CN" altLang="en-US" sz="1200" dirty="0"/>
              <a:t>请输入第一个字符串</a:t>
            </a:r>
            <a:r>
              <a:rPr lang="pt-BR" altLang="zh-CN" sz="1200" dirty="0"/>
              <a:t>s1:\n");</a:t>
            </a:r>
          </a:p>
          <a:p>
            <a:r>
              <a:rPr lang="pt-BR" altLang="zh-CN" sz="1200" dirty="0"/>
              <a:t>    gets(s1);  // </a:t>
            </a:r>
            <a:r>
              <a:rPr lang="zh-CN" altLang="en-US" sz="1200" dirty="0"/>
              <a:t>等价于</a:t>
            </a:r>
            <a:r>
              <a:rPr lang="pt-BR" altLang="zh-CN" sz="1200" dirty="0"/>
              <a:t>scanf </a:t>
            </a:r>
          </a:p>
          <a:p>
            <a:r>
              <a:rPr lang="pt-BR" altLang="zh-CN" sz="1200" dirty="0"/>
              <a:t>    printf("</a:t>
            </a:r>
            <a:r>
              <a:rPr lang="zh-CN" altLang="en-US" sz="1200" dirty="0"/>
              <a:t>请输入第二个字符串</a:t>
            </a:r>
            <a:r>
              <a:rPr lang="pt-BR" altLang="zh-CN" sz="1200" dirty="0"/>
              <a:t>s2:\n");</a:t>
            </a:r>
          </a:p>
          <a:p>
            <a:r>
              <a:rPr lang="pt-BR" altLang="zh-CN" sz="1200" dirty="0"/>
              <a:t>    gets(s2);  // </a:t>
            </a:r>
            <a:r>
              <a:rPr lang="zh-CN" altLang="en-US" sz="1200" dirty="0"/>
              <a:t>等价于</a:t>
            </a:r>
            <a:r>
              <a:rPr lang="pt-BR" altLang="zh-CN" sz="1200" dirty="0"/>
              <a:t>scanf</a:t>
            </a:r>
          </a:p>
          <a:p>
            <a:r>
              <a:rPr lang="pt-BR" altLang="zh-CN" sz="1200" dirty="0"/>
              <a:t>    scat(s1, s2);</a:t>
            </a:r>
          </a:p>
          <a:p>
            <a:r>
              <a:rPr lang="pt-BR" altLang="zh-CN" sz="1200" dirty="0"/>
              <a:t>    puts(s1);  // </a:t>
            </a:r>
            <a:r>
              <a:rPr lang="zh-CN" altLang="en-US" sz="1200" dirty="0"/>
              <a:t>等价于</a:t>
            </a:r>
            <a:r>
              <a:rPr lang="pt-BR" altLang="zh-CN" sz="1200" dirty="0"/>
              <a:t>printf</a:t>
            </a:r>
          </a:p>
          <a:p>
            <a:r>
              <a:rPr lang="pt-BR" altLang="zh-CN" sz="1200" dirty="0"/>
              <a:t>    return 0;</a:t>
            </a:r>
          </a:p>
          <a:p>
            <a:r>
              <a:rPr lang="pt-BR" altLang="zh-CN" sz="1200" dirty="0"/>
              <a:t>}</a:t>
            </a:r>
          </a:p>
          <a:p>
            <a:endParaRPr lang="pt-BR" altLang="zh-CN" sz="1200" dirty="0"/>
          </a:p>
          <a:p>
            <a:r>
              <a:rPr lang="pt-BR" altLang="zh-CN" sz="1200" dirty="0"/>
              <a:t>void scat (char s1[], char s2[]){</a:t>
            </a:r>
          </a:p>
          <a:p>
            <a:r>
              <a:rPr lang="pt-BR" altLang="zh-CN" sz="1200" dirty="0"/>
              <a:t>	int i=0, j=0;</a:t>
            </a:r>
          </a:p>
          <a:p>
            <a:r>
              <a:rPr lang="pt-BR" altLang="zh-CN" sz="1200" dirty="0"/>
              <a:t>	while (s1[i] != '\0')    // </a:t>
            </a:r>
            <a:r>
              <a:rPr lang="zh-CN" altLang="en-US" sz="1200" dirty="0"/>
              <a:t>找到</a:t>
            </a:r>
            <a:r>
              <a:rPr lang="pt-BR" altLang="zh-CN" sz="1200" dirty="0"/>
              <a:t>s1</a:t>
            </a:r>
            <a:r>
              <a:rPr lang="zh-CN" altLang="en-US" sz="1200" dirty="0"/>
              <a:t>的结束位置 </a:t>
            </a:r>
          </a:p>
          <a:p>
            <a:r>
              <a:rPr lang="zh-CN" altLang="en-US" sz="1200" dirty="0"/>
              <a:t>	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	   </a:t>
            </a:r>
            <a:r>
              <a:rPr lang="pt-BR" altLang="zh-CN" sz="1200" dirty="0"/>
              <a:t>i++;</a:t>
            </a:r>
          </a:p>
          <a:p>
            <a:r>
              <a:rPr lang="pt-BR" altLang="zh-CN" sz="1200" dirty="0"/>
              <a:t>	};</a:t>
            </a:r>
          </a:p>
          <a:p>
            <a:r>
              <a:rPr lang="pt-BR" altLang="zh-CN" sz="1200" dirty="0"/>
              <a:t>	while (s2[j] != </a:t>
            </a:r>
            <a:r>
              <a:rPr lang="pt-BR" altLang="zh-CN" sz="1200" dirty="0" smtClean="0"/>
              <a:t>‘\0’) </a:t>
            </a:r>
            <a:r>
              <a:rPr lang="pt-BR" altLang="zh-CN" sz="1200" dirty="0"/>
              <a:t>// </a:t>
            </a:r>
            <a:r>
              <a:rPr lang="zh-CN" altLang="en-US" sz="1200" dirty="0"/>
              <a:t>从</a:t>
            </a:r>
            <a:r>
              <a:rPr lang="pt-BR" altLang="zh-CN" sz="1200" dirty="0"/>
              <a:t>s</a:t>
            </a:r>
            <a:r>
              <a:rPr lang="zh-CN" altLang="en-US" sz="1200" dirty="0"/>
              <a:t>的结束位置开始赋值</a:t>
            </a:r>
            <a:r>
              <a:rPr lang="zh-CN" altLang="en-US" sz="1200" dirty="0" smtClean="0"/>
              <a:t>，直到</a:t>
            </a:r>
            <a:r>
              <a:rPr lang="pt-BR" altLang="zh-CN" sz="1200" dirty="0" smtClean="0"/>
              <a:t>S2</a:t>
            </a:r>
            <a:r>
              <a:rPr lang="zh-CN" altLang="en-US" sz="1200" dirty="0"/>
              <a:t>结束 </a:t>
            </a:r>
          </a:p>
          <a:p>
            <a:r>
              <a:rPr lang="zh-CN" altLang="en-US" sz="1200" dirty="0"/>
              <a:t>	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	   </a:t>
            </a:r>
            <a:r>
              <a:rPr lang="pt-BR" altLang="zh-CN" sz="1200" dirty="0"/>
              <a:t>s1[i]=s2[j];</a:t>
            </a:r>
          </a:p>
          <a:p>
            <a:r>
              <a:rPr lang="pt-BR" altLang="zh-CN" sz="1200" dirty="0"/>
              <a:t>	    i++;</a:t>
            </a:r>
          </a:p>
          <a:p>
            <a:r>
              <a:rPr lang="pt-BR" altLang="zh-CN" sz="1200" dirty="0"/>
              <a:t>	   j++;</a:t>
            </a:r>
          </a:p>
          <a:p>
            <a:r>
              <a:rPr lang="pt-BR" altLang="zh-CN" sz="1200" dirty="0"/>
              <a:t>	}</a:t>
            </a:r>
          </a:p>
          <a:p>
            <a:r>
              <a:rPr lang="pt-BR" altLang="zh-CN" sz="1200" dirty="0"/>
              <a:t>	s1[i]='\0';// </a:t>
            </a:r>
            <a:r>
              <a:rPr lang="zh-CN" altLang="en-US" sz="1200" dirty="0"/>
              <a:t>定义结束字符 </a:t>
            </a:r>
          </a:p>
          <a:p>
            <a:r>
              <a:rPr lang="en-US" altLang="zh-CN" sz="1200" dirty="0"/>
              <a:t>}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462" y="5745141"/>
            <a:ext cx="2962275" cy="78105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4991" y="53373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运行结果：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6147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/>
          <p:cNvSpPr/>
          <p:nvPr/>
        </p:nvSpPr>
        <p:spPr>
          <a:xfrm>
            <a:off x="10922000" y="584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6"/>
          <p:cNvSpPr/>
          <p:nvPr/>
        </p:nvSpPr>
        <p:spPr>
          <a:xfrm>
            <a:off x="11176000" y="5994400"/>
            <a:ext cx="508000" cy="50800"/>
          </a:xfrm>
          <a:prstGeom prst="roundRect">
            <a:avLst>
              <a:gd name="adj" fmla="val 0"/>
            </a:avLst>
          </a:prstGeom>
          <a:solidFill>
            <a:srgbClr val="00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7"/>
          <p:cNvSpPr/>
          <p:nvPr/>
        </p:nvSpPr>
        <p:spPr>
          <a:xfrm>
            <a:off x="0" y="2667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smtClean="0"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 dirty="0"/>
          </a:p>
        </p:txBody>
      </p:sp>
      <p:sp>
        <p:nvSpPr>
          <p:cNvPr id="5" name="AutoShape 8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zh-CN" altLang="en-US" sz="4000" b="1" dirty="0" smtClean="0">
                <a:latin typeface="Noto Sans SC"/>
                <a:ea typeface="Noto Sans SC"/>
                <a:cs typeface="Noto Sans SC"/>
              </a:rPr>
              <a:t>结构体</a:t>
            </a:r>
            <a:endParaRPr lang="en-US" sz="4000" b="1" dirty="0"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28458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defRPr/>
            </a:pPr>
            <a:r>
              <a:rPr lang="zh-CN" altLang="en-US" sz="3200" b="1" dirty="0" smtClean="0">
                <a:latin typeface="Noto Sans SC"/>
                <a:ea typeface="Noto Sans SC"/>
                <a:cs typeface="Noto Sans SC"/>
                <a:sym typeface="Noto Sans SC"/>
              </a:rPr>
              <a:t>结构体的基础用法</a:t>
            </a:r>
            <a:endParaRPr lang="en-US" altLang="zh-CN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0" y="1325563"/>
            <a:ext cx="7639050" cy="504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10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2929" y="551807"/>
            <a:ext cx="10515600" cy="1325563"/>
          </a:xfrm>
        </p:spPr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cxnSp>
        <p:nvCxnSpPr>
          <p:cNvPr id="4" name="肘形连接符 3"/>
          <p:cNvCxnSpPr/>
          <p:nvPr/>
        </p:nvCxnSpPr>
        <p:spPr>
          <a:xfrm>
            <a:off x="6465796" y="768914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6603250" y="10270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390135" y="18636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431277" y="18636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8" name="肘形连接符 7"/>
          <p:cNvCxnSpPr/>
          <p:nvPr/>
        </p:nvCxnSpPr>
        <p:spPr>
          <a:xfrm>
            <a:off x="6688616" y="1654532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912172" y="18786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679989" y="274925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31277" y="268568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cxnSp>
        <p:nvCxnSpPr>
          <p:cNvPr id="20" name="肘形连接符 19"/>
          <p:cNvCxnSpPr/>
          <p:nvPr/>
        </p:nvCxnSpPr>
        <p:spPr>
          <a:xfrm>
            <a:off x="2549630" y="1027057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687084" y="128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3473969" y="21217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4515111" y="212177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cxnSp>
        <p:nvCxnSpPr>
          <p:cNvPr id="24" name="肘形连接符 23"/>
          <p:cNvCxnSpPr/>
          <p:nvPr/>
        </p:nvCxnSpPr>
        <p:spPr>
          <a:xfrm>
            <a:off x="2549629" y="1863635"/>
            <a:ext cx="1520687" cy="88561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2996006" y="213682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3763823" y="300739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515111" y="293392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28" name="标题 1"/>
          <p:cNvSpPr txBox="1">
            <a:spLocks/>
          </p:cNvSpPr>
          <p:nvPr/>
        </p:nvSpPr>
        <p:spPr>
          <a:xfrm>
            <a:off x="3396763" y="7717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29" name="右箭头 28"/>
          <p:cNvSpPr/>
          <p:nvPr/>
        </p:nvSpPr>
        <p:spPr>
          <a:xfrm>
            <a:off x="3780463" y="3303252"/>
            <a:ext cx="1087120" cy="429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 flipH="1">
            <a:off x="8285389" y="1320205"/>
            <a:ext cx="106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余数</a:t>
            </a:r>
          </a:p>
        </p:txBody>
      </p:sp>
      <p:sp>
        <p:nvSpPr>
          <p:cNvPr id="31" name="文本框 30"/>
          <p:cNvSpPr txBox="1"/>
          <p:nvPr/>
        </p:nvSpPr>
        <p:spPr>
          <a:xfrm flipH="1">
            <a:off x="4518633" y="1683443"/>
            <a:ext cx="1060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余数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549629" y="4495800"/>
            <a:ext cx="3611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1 2 4 8 16 32 64 128 256 512 1024</a:t>
            </a:r>
          </a:p>
        </p:txBody>
      </p:sp>
      <p:sp>
        <p:nvSpPr>
          <p:cNvPr id="33" name="上箭头 32"/>
          <p:cNvSpPr/>
          <p:nvPr/>
        </p:nvSpPr>
        <p:spPr>
          <a:xfrm>
            <a:off x="5048728" y="1803400"/>
            <a:ext cx="666272" cy="125162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279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02423"/>
              </p:ext>
            </p:extLst>
          </p:nvPr>
        </p:nvGraphicFramePr>
        <p:xfrm>
          <a:off x="1286933" y="158326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6128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50332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5095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212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4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2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|</a:t>
                      </a:r>
                      <a:r>
                        <a:rPr lang="zh-CN" altLang="en-US" b="1" dirty="0" smtClean="0"/>
                        <a:t>（位运算或）</a:t>
                      </a:r>
                      <a:r>
                        <a:rPr lang="en-US" altLang="zh-CN" b="1" dirty="0" smtClean="0"/>
                        <a:t>=7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3288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52343"/>
              </p:ext>
            </p:extLst>
          </p:nvPr>
        </p:nvGraphicFramePr>
        <p:xfrm>
          <a:off x="1286933" y="377613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6128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850332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5095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212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4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721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 smtClean="0"/>
                        <a:t>&amp;</a:t>
                      </a:r>
                      <a:r>
                        <a:rPr lang="zh-CN" altLang="en-US" b="1" dirty="0" smtClean="0"/>
                        <a:t>（位运算与）</a:t>
                      </a:r>
                      <a:r>
                        <a:rPr lang="en-US" altLang="zh-CN" b="1" dirty="0" smtClean="0"/>
                        <a:t>=0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284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42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1207</Words>
  <Application>Microsoft Office PowerPoint</Application>
  <PresentationFormat>宽屏</PresentationFormat>
  <Paragraphs>261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Noto Sans SC</vt:lpstr>
      <vt:lpstr>Roboto Mono</vt:lpstr>
      <vt:lpstr>等线</vt:lpstr>
      <vt:lpstr>等线 Light</vt:lpstr>
      <vt:lpstr>微软雅黑</vt:lpstr>
      <vt:lpstr>Arial</vt:lpstr>
      <vt:lpstr>Office 主题​​</vt:lpstr>
      <vt:lpstr>C语言-数据类型 </vt:lpstr>
      <vt:lpstr>PowerPoint 演示文稿</vt:lpstr>
      <vt:lpstr>PowerPoint 演示文稿</vt:lpstr>
      <vt:lpstr>C语言程序-运行原理</vt:lpstr>
      <vt:lpstr>C程序的内存布局：餐厅比喻（了解）</vt:lpstr>
      <vt:lpstr>内存四区详解：代码段 &amp; 数据段（了解）</vt:lpstr>
      <vt:lpstr>内存四区详解：栈 &amp; 堆（了解）</vt:lpstr>
      <vt:lpstr>PowerPoint 演示文稿</vt:lpstr>
      <vt:lpstr>内存的基本组成单位:字节（字节对齐）</vt:lpstr>
      <vt:lpstr>定义一个变量</vt:lpstr>
      <vt:lpstr>基础数据类型的内存占用（sizeof函数）</vt:lpstr>
      <vt:lpstr>格式化输入和输出</vt:lpstr>
      <vt:lpstr>PowerPoint 演示文稿</vt:lpstr>
      <vt:lpstr>指针的定义</vt:lpstr>
      <vt:lpstr>PowerPoint 演示文稿</vt:lpstr>
      <vt:lpstr>一维数组基础</vt:lpstr>
      <vt:lpstr>一维数组函数传参</vt:lpstr>
      <vt:lpstr>一维数组与指针</vt:lpstr>
      <vt:lpstr>二维数组</vt:lpstr>
      <vt:lpstr>PowerPoint 演示文稿</vt:lpstr>
      <vt:lpstr>字符串的定义</vt:lpstr>
      <vt:lpstr>字符串与指针</vt:lpstr>
      <vt:lpstr>字符串的输入和输出（gets、puts)</vt:lpstr>
      <vt:lpstr>字符串的应用</vt:lpstr>
      <vt:lpstr>PowerPoint 演示文稿</vt:lpstr>
      <vt:lpstr>结构体的基础用法</vt:lpstr>
      <vt:lpstr>7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C语言数据类型 </dc:title>
  <dc:creator>向金龙(10012775)</dc:creator>
  <cp:lastModifiedBy>向金龙(10012775)</cp:lastModifiedBy>
  <cp:revision>100</cp:revision>
  <dcterms:created xsi:type="dcterms:W3CDTF">2026-06-20T22:10:33Z</dcterms:created>
  <dcterms:modified xsi:type="dcterms:W3CDTF">2026-06-26T13:26:35Z</dcterms:modified>
</cp:coreProperties>
</file>