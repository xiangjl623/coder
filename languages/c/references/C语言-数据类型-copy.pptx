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71" r:id="rId6"/>
    <p:sldId id="268" r:id="rId7"/>
    <p:sldId id="274" r:id="rId8"/>
    <p:sldId id="275" r:id="rId9"/>
    <p:sldId id="277" r:id="rId10"/>
    <p:sldId id="273" r:id="rId11"/>
    <p:sldId id="269" r:id="rId12"/>
    <p:sldId id="272" r:id="rId13"/>
    <p:sldId id="278" r:id="rId14"/>
    <p:sldId id="283" r:id="rId15"/>
    <p:sldId id="284" r:id="rId16"/>
    <p:sldId id="282" r:id="rId17"/>
    <p:sldId id="276" r:id="rId18"/>
    <p:sldId id="280" r:id="rId19"/>
    <p:sldId id="285" r:id="rId20"/>
    <p:sldId id="286" r:id="rId21"/>
    <p:sldId id="288" r:id="rId22"/>
    <p:sldId id="260" r:id="rId23"/>
    <p:sldId id="287" r:id="rId24"/>
    <p:sldId id="289" r:id="rId25"/>
    <p:sldId id="29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61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471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093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141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726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067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244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73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033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76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68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42620-96DC-49D9-87C2-1C2705F3C146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30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svg"/><Relationship Id="rId10" Type="http://schemas.openxmlformats.org/officeDocument/2006/relationships/image" Target="../media/image26.svg"/><Relationship Id="rId9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5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 err="1"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r>
              <a:rPr lang="en-US" altLang="zh-CN" b="1" dirty="0" err="1" smtClean="0">
                <a:latin typeface="Noto Sans SC"/>
                <a:ea typeface="Noto Sans SC"/>
                <a:cs typeface="Noto Sans SC"/>
                <a:sym typeface="Noto Sans SC"/>
              </a:rPr>
              <a:t>语言</a:t>
            </a:r>
            <a:r>
              <a:rPr lang="en-US" altLang="zh-CN" b="1" dirty="0"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b="1" dirty="0" smtClean="0">
                <a:latin typeface="Noto Sans SC"/>
                <a:ea typeface="Noto Sans SC"/>
                <a:cs typeface="Noto Sans SC"/>
                <a:sym typeface="Noto Sans SC"/>
              </a:rPr>
              <a:t>数据类型</a:t>
            </a:r>
            <a:r>
              <a:rPr lang="en-US" altLang="zh-CN" sz="1400" dirty="0" smtClean="0"/>
              <a:t/>
            </a:r>
            <a:br>
              <a:rPr lang="en-US" altLang="zh-CN" sz="1400" dirty="0" smtClean="0"/>
            </a:b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从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运行原理、基础数据类型到</a:t>
            </a:r>
            <a:r>
              <a:rPr lang="en-US" altLang="zh-CN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指针实践，揭开底层存储的核心奥秘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8937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3" name="AutoShape 4"/>
          <p:cNvSpPr/>
          <p:nvPr/>
        </p:nvSpPr>
        <p:spPr>
          <a:xfrm>
            <a:off x="762000" y="1547191"/>
            <a:ext cx="5270500" cy="1524000"/>
          </a:xfrm>
          <a:prstGeom prst="roundRect">
            <a:avLst>
              <a:gd name="adj" fmla="val 0"/>
            </a:avLst>
          </a:prstGeom>
          <a:solidFill>
            <a:srgbClr val="00FFFF">
              <a:alpha val="8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5"/>
          <p:cNvSpPr/>
          <p:nvPr/>
        </p:nvSpPr>
        <p:spPr>
          <a:xfrm>
            <a:off x="762000" y="1547191"/>
            <a:ext cx="76200" cy="15240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6"/>
          <p:cNvSpPr/>
          <p:nvPr/>
        </p:nvSpPr>
        <p:spPr>
          <a:xfrm>
            <a:off x="1016000" y="1674191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id="6" name="Connector 7"/>
          <p:cNvCxnSpPr/>
          <p:nvPr/>
        </p:nvCxnSpPr>
        <p:spPr>
          <a:xfrm rot="5361804">
            <a:off x="1460500" y="2302876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8"/>
          <p:cNvSpPr/>
          <p:nvPr/>
        </p:nvSpPr>
        <p:spPr>
          <a:xfrm>
            <a:off x="2222500" y="1699591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r>
              <a:rPr lang="zh-CN" altLang="en-US" sz="2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语言运行原理</a:t>
            </a:r>
            <a:endParaRPr lang="en-US" sz="1100" dirty="0"/>
          </a:p>
        </p:txBody>
      </p:sp>
      <p:sp>
        <p:nvSpPr>
          <p:cNvPr id="8" name="AutoShape 9"/>
          <p:cNvSpPr/>
          <p:nvPr/>
        </p:nvSpPr>
        <p:spPr>
          <a:xfrm>
            <a:off x="2222500" y="2245691"/>
            <a:ext cx="361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深入剖析C程序运行时的内存四区模型，详解代码段、数据段、栈区与堆区的功能划分与数据存储特性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10"/>
          <p:cNvSpPr/>
          <p:nvPr/>
        </p:nvSpPr>
        <p:spPr>
          <a:xfrm>
            <a:off x="6413500" y="1547191"/>
            <a:ext cx="5270500" cy="1524000"/>
          </a:xfrm>
          <a:prstGeom prst="roundRect">
            <a:avLst>
              <a:gd name="adj" fmla="val 0"/>
            </a:avLst>
          </a:prstGeom>
          <a:solidFill>
            <a:srgbClr val="00FFFF">
              <a:alpha val="8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1"/>
          <p:cNvSpPr/>
          <p:nvPr/>
        </p:nvSpPr>
        <p:spPr>
          <a:xfrm>
            <a:off x="6413500" y="1547191"/>
            <a:ext cx="76200" cy="15240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2"/>
          <p:cNvSpPr/>
          <p:nvPr/>
        </p:nvSpPr>
        <p:spPr>
          <a:xfrm>
            <a:off x="6667500" y="1674191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id="12" name="Connector 13"/>
          <p:cNvCxnSpPr/>
          <p:nvPr/>
        </p:nvCxnSpPr>
        <p:spPr>
          <a:xfrm rot="5361804">
            <a:off x="7112000" y="2302876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4"/>
          <p:cNvSpPr/>
          <p:nvPr/>
        </p:nvSpPr>
        <p:spPr>
          <a:xfrm>
            <a:off x="7874000" y="1699591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dirty="0">
                <a:latin typeface="Noto Sans SC"/>
                <a:ea typeface="Noto Sans SC"/>
                <a:cs typeface="Noto Sans SC"/>
                <a:sym typeface="Noto Sans SC"/>
              </a:rPr>
              <a:t>基础</a:t>
            </a:r>
            <a:r>
              <a:rPr lang="en-US" sz="2000" b="1" i="0" u="none" strike="noStrike" dirty="0" err="1" smtClean="0">
                <a:latin typeface="Noto Sans SC"/>
                <a:ea typeface="Noto Sans SC"/>
                <a:cs typeface="Noto Sans SC"/>
                <a:sym typeface="Noto Sans SC"/>
              </a:rPr>
              <a:t>数据类型</a:t>
            </a:r>
            <a:endParaRPr lang="en-US" sz="1100" dirty="0"/>
          </a:p>
        </p:txBody>
      </p:sp>
      <p:sp>
        <p:nvSpPr>
          <p:cNvPr id="14" name="AutoShape 15"/>
          <p:cNvSpPr/>
          <p:nvPr/>
        </p:nvSpPr>
        <p:spPr>
          <a:xfrm>
            <a:off x="7874000" y="2245691"/>
            <a:ext cx="361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探究各类基本数据类型在内存中的占用空间，掌握sizeof</a:t>
            </a:r>
            <a:r>
              <a:rPr lang="en-US" sz="1400" b="0" i="0" u="none" strike="noStrike" dirty="0" err="1" smtClean="0">
                <a:latin typeface="Noto Sans SC"/>
                <a:ea typeface="Noto Sans SC"/>
                <a:cs typeface="Noto Sans SC"/>
                <a:sym typeface="Noto Sans SC"/>
              </a:rPr>
              <a:t>运算符的使用技巧与底层计算逻辑</a:t>
            </a:r>
            <a:endParaRPr lang="en-US" sz="1100" dirty="0"/>
          </a:p>
        </p:txBody>
      </p:sp>
      <p:sp>
        <p:nvSpPr>
          <p:cNvPr id="15" name="AutoShape 16"/>
          <p:cNvSpPr/>
          <p:nvPr/>
        </p:nvSpPr>
        <p:spPr>
          <a:xfrm>
            <a:off x="762000" y="3452191"/>
            <a:ext cx="5270500" cy="1524000"/>
          </a:xfrm>
          <a:prstGeom prst="roundRect">
            <a:avLst>
              <a:gd name="adj" fmla="val 0"/>
            </a:avLst>
          </a:prstGeom>
          <a:solidFill>
            <a:srgbClr val="00FFFF">
              <a:alpha val="8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/>
          <p:cNvSpPr/>
          <p:nvPr/>
        </p:nvSpPr>
        <p:spPr>
          <a:xfrm>
            <a:off x="762000" y="3452191"/>
            <a:ext cx="76200" cy="15240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8"/>
          <p:cNvSpPr/>
          <p:nvPr/>
        </p:nvSpPr>
        <p:spPr>
          <a:xfrm>
            <a:off x="1016000" y="3579191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id="18" name="Connector 19"/>
          <p:cNvCxnSpPr/>
          <p:nvPr/>
        </p:nvCxnSpPr>
        <p:spPr>
          <a:xfrm rot="5361804">
            <a:off x="1460500" y="4207876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20"/>
          <p:cNvSpPr/>
          <p:nvPr/>
        </p:nvSpPr>
        <p:spPr>
          <a:xfrm>
            <a:off x="2222500" y="3604591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 smtClean="0">
                <a:latin typeface="Noto Sans SC"/>
                <a:ea typeface="Noto Sans SC"/>
                <a:cs typeface="Noto Sans SC"/>
                <a:sym typeface="Noto Sans SC"/>
              </a:rPr>
              <a:t>指针</a:t>
            </a:r>
            <a:endParaRPr lang="en-US" sz="1100" dirty="0"/>
          </a:p>
        </p:txBody>
      </p:sp>
      <p:sp>
        <p:nvSpPr>
          <p:cNvPr id="20" name="AutoShape 21"/>
          <p:cNvSpPr/>
          <p:nvPr/>
        </p:nvSpPr>
        <p:spPr>
          <a:xfrm>
            <a:off x="2222500" y="4150691"/>
            <a:ext cx="361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理解指针的本质是内存地址，掌握指针的算术运算、指针与数组的关系，以及NULL等特殊指针的应用。</a:t>
            </a:r>
            <a:endParaRPr lang="en-US" sz="1100"/>
          </a:p>
        </p:txBody>
      </p:sp>
      <p:sp>
        <p:nvSpPr>
          <p:cNvPr id="21" name="AutoShape 22"/>
          <p:cNvSpPr/>
          <p:nvPr/>
        </p:nvSpPr>
        <p:spPr>
          <a:xfrm>
            <a:off x="6413500" y="3452191"/>
            <a:ext cx="5270500" cy="1524000"/>
          </a:xfrm>
          <a:prstGeom prst="roundRect">
            <a:avLst>
              <a:gd name="adj" fmla="val 0"/>
            </a:avLst>
          </a:prstGeom>
          <a:solidFill>
            <a:srgbClr val="00FFFF">
              <a:alpha val="8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3"/>
          <p:cNvSpPr/>
          <p:nvPr/>
        </p:nvSpPr>
        <p:spPr>
          <a:xfrm>
            <a:off x="6413500" y="3452191"/>
            <a:ext cx="76200" cy="15240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4"/>
          <p:cNvSpPr/>
          <p:nvPr/>
        </p:nvSpPr>
        <p:spPr>
          <a:xfrm>
            <a:off x="6667500" y="3579191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id="24" name="Connector 25"/>
          <p:cNvCxnSpPr/>
          <p:nvPr/>
        </p:nvCxnSpPr>
        <p:spPr>
          <a:xfrm rot="5361804">
            <a:off x="7112000" y="4207876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6"/>
          <p:cNvSpPr/>
          <p:nvPr/>
        </p:nvSpPr>
        <p:spPr>
          <a:xfrm>
            <a:off x="7874000" y="3604591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 smtClean="0">
                <a:latin typeface="Noto Sans SC"/>
                <a:ea typeface="Noto Sans SC"/>
                <a:cs typeface="Noto Sans SC"/>
                <a:sym typeface="Noto Sans SC"/>
              </a:rPr>
              <a:t>数组</a:t>
            </a:r>
            <a:endParaRPr lang="en-US" sz="1100" dirty="0"/>
          </a:p>
        </p:txBody>
      </p:sp>
      <p:sp>
        <p:nvSpPr>
          <p:cNvPr id="26" name="AutoShape 27"/>
          <p:cNvSpPr/>
          <p:nvPr/>
        </p:nvSpPr>
        <p:spPr>
          <a:xfrm>
            <a:off x="7874000" y="4150691"/>
            <a:ext cx="361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分析数组的连续内存布局，</a:t>
            </a:r>
            <a:r>
              <a:rPr lang="en-US" sz="1400" b="0" i="0" u="none" strike="noStrike" dirty="0" err="1" smtClean="0">
                <a:latin typeface="Noto Sans SC"/>
                <a:ea typeface="Noto Sans SC"/>
                <a:cs typeface="Noto Sans SC"/>
                <a:sym typeface="Noto Sans SC"/>
              </a:rPr>
              <a:t>对比字符数组与字符串常量的本质区别</a:t>
            </a:r>
            <a:endParaRPr lang="en-US" sz="1100" dirty="0"/>
          </a:p>
        </p:txBody>
      </p:sp>
      <p:sp>
        <p:nvSpPr>
          <p:cNvPr id="27" name="AutoShape 28"/>
          <p:cNvSpPr/>
          <p:nvPr/>
        </p:nvSpPr>
        <p:spPr>
          <a:xfrm>
            <a:off x="762000" y="5230190"/>
            <a:ext cx="5270500" cy="1270001"/>
          </a:xfrm>
          <a:prstGeom prst="roundRect">
            <a:avLst>
              <a:gd name="adj" fmla="val 0"/>
            </a:avLst>
          </a:prstGeom>
          <a:solidFill>
            <a:srgbClr val="00FFFF">
              <a:alpha val="8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9"/>
          <p:cNvSpPr/>
          <p:nvPr/>
        </p:nvSpPr>
        <p:spPr>
          <a:xfrm>
            <a:off x="762000" y="5230191"/>
            <a:ext cx="76200" cy="10795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0"/>
          <p:cNvSpPr/>
          <p:nvPr/>
        </p:nvSpPr>
        <p:spPr>
          <a:xfrm>
            <a:off x="1016000" y="5357191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cxnSp>
        <p:nvCxnSpPr>
          <p:cNvPr id="30" name="Connector 31"/>
          <p:cNvCxnSpPr/>
          <p:nvPr/>
        </p:nvCxnSpPr>
        <p:spPr>
          <a:xfrm rot="5347115">
            <a:off x="1619250" y="5763640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2"/>
          <p:cNvSpPr/>
          <p:nvPr/>
        </p:nvSpPr>
        <p:spPr>
          <a:xfrm>
            <a:off x="2222500" y="5553765"/>
            <a:ext cx="3556000" cy="56542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字符串</a:t>
            </a:r>
            <a:endParaRPr lang="en-US" altLang="zh-CN" sz="2000" b="1" i="0" u="none" strike="noStrike" dirty="0" smtClean="0"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100" dirty="0" err="1" smtClean="0">
                <a:latin typeface="Noto Sans SC"/>
                <a:ea typeface="Noto Sans SC"/>
                <a:cs typeface="Noto Sans SC"/>
                <a:sym typeface="Noto Sans SC"/>
              </a:rPr>
              <a:t>掌握字符串处理的核心要点</a:t>
            </a:r>
            <a:endParaRPr lang="en-US" altLang="zh-CN" sz="1000" dirty="0"/>
          </a:p>
        </p:txBody>
      </p:sp>
      <p:cxnSp>
        <p:nvCxnSpPr>
          <p:cNvPr id="32" name="Connector 33"/>
          <p:cNvCxnSpPr/>
          <p:nvPr/>
        </p:nvCxnSpPr>
        <p:spPr>
          <a:xfrm rot="5347115">
            <a:off x="6064250" y="5763640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8" name="AutoShape 28"/>
          <p:cNvSpPr/>
          <p:nvPr/>
        </p:nvSpPr>
        <p:spPr>
          <a:xfrm>
            <a:off x="6413500" y="5230190"/>
            <a:ext cx="5270500" cy="1270001"/>
          </a:xfrm>
          <a:prstGeom prst="roundRect">
            <a:avLst>
              <a:gd name="adj" fmla="val 0"/>
            </a:avLst>
          </a:prstGeom>
          <a:solidFill>
            <a:srgbClr val="00FFFF">
              <a:alpha val="8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29"/>
          <p:cNvSpPr/>
          <p:nvPr/>
        </p:nvSpPr>
        <p:spPr>
          <a:xfrm>
            <a:off x="6413500" y="5230191"/>
            <a:ext cx="76200" cy="10795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30"/>
          <p:cNvSpPr/>
          <p:nvPr/>
        </p:nvSpPr>
        <p:spPr>
          <a:xfrm>
            <a:off x="6667500" y="5357191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 dirty="0"/>
          </a:p>
        </p:txBody>
      </p:sp>
      <p:cxnSp>
        <p:nvCxnSpPr>
          <p:cNvPr id="41" name="Connector 31"/>
          <p:cNvCxnSpPr/>
          <p:nvPr/>
        </p:nvCxnSpPr>
        <p:spPr>
          <a:xfrm rot="5347115">
            <a:off x="7270750" y="5763640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32"/>
          <p:cNvSpPr/>
          <p:nvPr/>
        </p:nvSpPr>
        <p:spPr>
          <a:xfrm>
            <a:off x="7874000" y="5530573"/>
            <a:ext cx="3556000" cy="56542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 smtClean="0">
                <a:latin typeface="Noto Sans SC"/>
                <a:ea typeface="Noto Sans SC"/>
                <a:cs typeface="Noto Sans SC"/>
                <a:sym typeface="Noto Sans SC"/>
              </a:rPr>
              <a:t>结构体</a:t>
            </a:r>
            <a:endParaRPr lang="en-US" sz="2000" b="1" i="0" u="none" strike="noStrike" dirty="0" smtClean="0"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100" dirty="0" err="1" smtClean="0">
                <a:latin typeface="Noto Sans SC"/>
                <a:ea typeface="Noto Sans SC"/>
                <a:cs typeface="Noto Sans SC"/>
                <a:sym typeface="Noto Sans SC"/>
              </a:rPr>
              <a:t>详解结构体的</a:t>
            </a:r>
            <a:r>
              <a:rPr lang="zh-CN" altLang="en-US" sz="1100" dirty="0" smtClean="0">
                <a:latin typeface="Noto Sans SC"/>
                <a:ea typeface="Noto Sans SC"/>
                <a:cs typeface="Noto Sans SC"/>
                <a:sym typeface="Noto Sans SC"/>
              </a:rPr>
              <a:t>基本使用</a:t>
            </a:r>
            <a:endParaRPr lang="en-US" altLang="zh-CN" sz="1000" dirty="0"/>
          </a:p>
        </p:txBody>
      </p:sp>
      <p:cxnSp>
        <p:nvCxnSpPr>
          <p:cNvPr id="43" name="Connector 33"/>
          <p:cNvCxnSpPr/>
          <p:nvPr/>
        </p:nvCxnSpPr>
        <p:spPr>
          <a:xfrm rot="5347115">
            <a:off x="11715750" y="5763640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2439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10922000" y="584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6"/>
          <p:cNvSpPr/>
          <p:nvPr/>
        </p:nvSpPr>
        <p:spPr>
          <a:xfrm>
            <a:off x="11176000" y="5994400"/>
            <a:ext cx="508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7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" name="AutoShape 8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altLang="zh-CN" sz="4000" b="1" dirty="0">
                <a:latin typeface="Noto Sans SC"/>
                <a:ea typeface="Noto Sans SC"/>
                <a:cs typeface="Noto Sans SC"/>
              </a:rPr>
              <a:t>C</a:t>
            </a:r>
            <a:r>
              <a:rPr lang="zh-CN" altLang="en-US" sz="4000" b="1" dirty="0">
                <a:latin typeface="Noto Sans SC"/>
                <a:ea typeface="Noto Sans SC"/>
                <a:cs typeface="Noto Sans SC"/>
              </a:rPr>
              <a:t>语言运行原理</a:t>
            </a:r>
            <a:endParaRPr lang="en-US" sz="4000" b="1" dirty="0"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837515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en-US" altLang="zh-CN" sz="3200" b="1" dirty="0"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r>
              <a:rPr lang="zh-CN" altLang="en-US" sz="3200" b="1" dirty="0">
                <a:latin typeface="Noto Sans SC"/>
                <a:ea typeface="Noto Sans SC"/>
                <a:cs typeface="Noto Sans SC"/>
                <a:sym typeface="Noto Sans SC"/>
              </a:rPr>
              <a:t>语言程序</a:t>
            </a:r>
            <a:r>
              <a:rPr lang="en-US" altLang="zh-CN" sz="3200" b="1" dirty="0"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sz="3200" b="1" dirty="0">
                <a:latin typeface="Noto Sans SC"/>
                <a:ea typeface="Noto Sans SC"/>
                <a:cs typeface="Noto Sans SC"/>
                <a:sym typeface="Noto Sans SC"/>
              </a:rPr>
              <a:t>运行原理</a:t>
            </a:r>
            <a:endParaRPr lang="en-US" altLang="zh-CN" sz="3200"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Picture 2" descr="http://www.uml.org.cn/c++/images/202306204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1098" y="1905000"/>
            <a:ext cx="6478689" cy="4023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998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10922000" y="584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6"/>
          <p:cNvSpPr/>
          <p:nvPr/>
        </p:nvSpPr>
        <p:spPr>
          <a:xfrm>
            <a:off x="11176000" y="5994400"/>
            <a:ext cx="508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7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 dirty="0"/>
          </a:p>
        </p:txBody>
      </p:sp>
      <p:sp>
        <p:nvSpPr>
          <p:cNvPr id="5" name="AutoShape 8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4000" b="1" dirty="0" smtClean="0">
                <a:latin typeface="Noto Sans SC"/>
                <a:ea typeface="Noto Sans SC"/>
                <a:cs typeface="Noto Sans SC"/>
              </a:rPr>
              <a:t>基础数据类型</a:t>
            </a:r>
            <a:endParaRPr lang="en-US" sz="4000" b="1" dirty="0"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210068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3200" b="1" dirty="0">
                <a:latin typeface="Noto Sans SC"/>
                <a:ea typeface="Noto Sans SC"/>
                <a:sym typeface="Noto Sans SC"/>
              </a:rPr>
              <a:t>内存</a:t>
            </a: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的基本组成单位</a:t>
            </a:r>
            <a:r>
              <a:rPr lang="en-US" altLang="zh-CN" sz="3200" b="1" dirty="0" smtClean="0">
                <a:latin typeface="Noto Sans SC"/>
                <a:ea typeface="Noto Sans SC"/>
                <a:sym typeface="Noto Sans SC"/>
              </a:rPr>
              <a:t>:</a:t>
            </a: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字节（字节对齐）</a:t>
            </a:r>
            <a:endParaRPr lang="en-US" altLang="zh-CN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517" y="1683855"/>
            <a:ext cx="7391400" cy="4305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25160"/>
            <a:ext cx="3118742" cy="131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209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定义一个变量</a:t>
            </a:r>
            <a:endParaRPr lang="en-US" altLang="zh-CN" sz="3200"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73" y="2068995"/>
            <a:ext cx="6743867" cy="366802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240105" y="2663959"/>
            <a:ext cx="4748695" cy="20313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</a:rPr>
              <a:t>变量的组成：变量的类型</a:t>
            </a:r>
            <a:r>
              <a:rPr lang="en-US" altLang="zh-CN" b="1" dirty="0">
                <a:solidFill>
                  <a:schemeClr val="accent2"/>
                </a:solidFill>
              </a:rPr>
              <a:t>+</a:t>
            </a:r>
            <a:r>
              <a:rPr lang="zh-CN" altLang="en-US" b="1" dirty="0">
                <a:solidFill>
                  <a:schemeClr val="accent2"/>
                </a:solidFill>
              </a:rPr>
              <a:t>变量的值</a:t>
            </a:r>
            <a:endParaRPr lang="en-US" altLang="zh-CN" b="1" dirty="0">
              <a:solidFill>
                <a:schemeClr val="accent2"/>
              </a:solidFill>
            </a:endParaRPr>
          </a:p>
          <a:p>
            <a:endParaRPr lang="en-US" altLang="zh-CN" b="1" dirty="0">
              <a:solidFill>
                <a:schemeClr val="accent2"/>
              </a:solidFill>
            </a:endParaRPr>
          </a:p>
          <a:p>
            <a:r>
              <a:rPr lang="zh-CN" altLang="en-US" b="1" dirty="0">
                <a:solidFill>
                  <a:schemeClr val="accent2"/>
                </a:solidFill>
              </a:rPr>
              <a:t>举例：</a:t>
            </a:r>
            <a:endParaRPr lang="en-US" altLang="zh-CN" b="1" dirty="0">
              <a:solidFill>
                <a:schemeClr val="accent2"/>
              </a:solidFill>
            </a:endParaRPr>
          </a:p>
          <a:p>
            <a:r>
              <a:rPr lang="en-US" altLang="zh-CN" b="1" dirty="0" err="1">
                <a:solidFill>
                  <a:schemeClr val="accent2"/>
                </a:solidFill>
              </a:rPr>
              <a:t>int</a:t>
            </a:r>
            <a:r>
              <a:rPr lang="en-US" altLang="zh-CN" b="1" dirty="0">
                <a:solidFill>
                  <a:schemeClr val="accent2"/>
                </a:solidFill>
              </a:rPr>
              <a:t> a = 20</a:t>
            </a:r>
            <a:r>
              <a:rPr lang="zh-CN" altLang="en-US" b="1" dirty="0">
                <a:solidFill>
                  <a:schemeClr val="accent2"/>
                </a:solidFill>
              </a:rPr>
              <a:t>；</a:t>
            </a:r>
            <a:endParaRPr lang="en-US" altLang="zh-CN" b="1" dirty="0">
              <a:solidFill>
                <a:schemeClr val="accent2"/>
              </a:solidFill>
            </a:endParaRPr>
          </a:p>
          <a:p>
            <a:r>
              <a:rPr lang="zh-CN" altLang="en-US" b="1" dirty="0">
                <a:solidFill>
                  <a:schemeClr val="accent2"/>
                </a:solidFill>
              </a:rPr>
              <a:t>类型</a:t>
            </a:r>
            <a:r>
              <a:rPr lang="en-US" altLang="zh-CN" b="1" dirty="0">
                <a:solidFill>
                  <a:schemeClr val="accent2"/>
                </a:solidFill>
              </a:rPr>
              <a:t>: </a:t>
            </a:r>
            <a:r>
              <a:rPr lang="en-US" altLang="zh-CN" b="1" dirty="0" err="1">
                <a:solidFill>
                  <a:schemeClr val="accent2"/>
                </a:solidFill>
              </a:rPr>
              <a:t>int</a:t>
            </a:r>
            <a:r>
              <a:rPr lang="zh-CN" altLang="en-US" b="1" dirty="0">
                <a:solidFill>
                  <a:schemeClr val="accent2"/>
                </a:solidFill>
              </a:rPr>
              <a:t>型</a:t>
            </a:r>
            <a:r>
              <a:rPr lang="en-US" altLang="zh-CN" b="1" dirty="0">
                <a:solidFill>
                  <a:schemeClr val="accent2"/>
                </a:solidFill>
              </a:rPr>
              <a:t>, </a:t>
            </a:r>
            <a:r>
              <a:rPr lang="zh-CN" altLang="en-US" b="1" dirty="0">
                <a:solidFill>
                  <a:schemeClr val="accent2"/>
                </a:solidFill>
              </a:rPr>
              <a:t>值</a:t>
            </a:r>
            <a:r>
              <a:rPr lang="en-US" altLang="zh-CN" b="1" dirty="0">
                <a:solidFill>
                  <a:schemeClr val="accent2"/>
                </a:solidFill>
              </a:rPr>
              <a:t>: 20</a:t>
            </a:r>
            <a:r>
              <a:rPr lang="zh-CN" altLang="en-US" b="1" dirty="0">
                <a:solidFill>
                  <a:schemeClr val="accent2"/>
                </a:solidFill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</a:rPr>
              <a:t>16</a:t>
            </a:r>
            <a:r>
              <a:rPr lang="zh-CN" altLang="en-US" b="1" dirty="0">
                <a:solidFill>
                  <a:schemeClr val="accent2"/>
                </a:solidFill>
              </a:rPr>
              <a:t>进制，显示为</a:t>
            </a:r>
            <a:r>
              <a:rPr lang="en-US" altLang="zh-CN" b="1" dirty="0">
                <a:solidFill>
                  <a:schemeClr val="accent2"/>
                </a:solidFill>
              </a:rPr>
              <a:t>14</a:t>
            </a:r>
            <a:r>
              <a:rPr lang="zh-CN" altLang="en-US" b="1" dirty="0">
                <a:solidFill>
                  <a:schemeClr val="accent2"/>
                </a:solidFill>
              </a:rPr>
              <a:t>）</a:t>
            </a:r>
            <a:endParaRPr lang="en-US" altLang="zh-CN" b="1" dirty="0">
              <a:solidFill>
                <a:schemeClr val="accent2"/>
              </a:solidFill>
            </a:endParaRPr>
          </a:p>
          <a:p>
            <a:endParaRPr lang="en-US" altLang="zh-CN" b="1" dirty="0">
              <a:solidFill>
                <a:schemeClr val="accent2"/>
              </a:solidFill>
            </a:endParaRPr>
          </a:p>
          <a:p>
            <a:r>
              <a:rPr lang="zh-CN" altLang="en-US" b="1" dirty="0">
                <a:solidFill>
                  <a:schemeClr val="accent2"/>
                </a:solidFill>
              </a:rPr>
              <a:t>内存中的存储模型如左图所示</a:t>
            </a:r>
          </a:p>
        </p:txBody>
      </p:sp>
    </p:spTree>
    <p:extLst>
      <p:ext uri="{BB962C8B-B14F-4D97-AF65-F5344CB8AC3E}">
        <p14:creationId xmlns:p14="http://schemas.microsoft.com/office/powerpoint/2010/main" val="4106568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基础数据类型的内存占用（</a:t>
            </a:r>
            <a:r>
              <a:rPr lang="en-US" altLang="zh-CN" sz="3200" b="1" dirty="0" err="1" smtClean="0">
                <a:latin typeface="Noto Sans SC"/>
                <a:ea typeface="Noto Sans SC"/>
                <a:sym typeface="Noto Sans SC"/>
              </a:rPr>
              <a:t>sizeof</a:t>
            </a: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函数）</a:t>
            </a:r>
            <a:endParaRPr lang="en-US" altLang="zh-CN" sz="3200"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矩形 3"/>
          <p:cNvSpPr/>
          <p:nvPr/>
        </p:nvSpPr>
        <p:spPr>
          <a:xfrm>
            <a:off x="372166" y="1527316"/>
            <a:ext cx="6096000" cy="424731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#include "</a:t>
            </a:r>
            <a:r>
              <a:rPr lang="en-US" altLang="zh-CN" b="1" dirty="0" err="1">
                <a:solidFill>
                  <a:schemeClr val="accent2"/>
                </a:solidFill>
              </a:rPr>
              <a:t>stdio.h</a:t>
            </a:r>
            <a:r>
              <a:rPr lang="en-US" altLang="zh-CN" b="1" dirty="0">
                <a:solidFill>
                  <a:schemeClr val="accent2"/>
                </a:solidFill>
              </a:rPr>
              <a:t>" </a:t>
            </a:r>
          </a:p>
          <a:p>
            <a:pPr>
              <a:defRPr/>
            </a:pPr>
            <a:endParaRPr lang="en-US" altLang="zh-CN" b="1" dirty="0">
              <a:solidFill>
                <a:schemeClr val="accent2"/>
              </a:solidFill>
            </a:endParaRPr>
          </a:p>
          <a:p>
            <a:pPr>
              <a:defRPr/>
            </a:pPr>
            <a:r>
              <a:rPr lang="en-US" altLang="zh-CN" b="1" dirty="0" err="1">
                <a:solidFill>
                  <a:schemeClr val="accent2"/>
                </a:solidFill>
              </a:rPr>
              <a:t>int</a:t>
            </a:r>
            <a:r>
              <a:rPr lang="en-US" altLang="zh-CN" b="1" dirty="0">
                <a:solidFill>
                  <a:schemeClr val="accent2"/>
                </a:solidFill>
              </a:rPr>
              <a:t> main() {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</a:t>
            </a:r>
            <a:r>
              <a:rPr lang="en-US" altLang="zh-CN" b="1" dirty="0" err="1">
                <a:solidFill>
                  <a:schemeClr val="accent2"/>
                </a:solidFill>
              </a:rPr>
              <a:t>printf</a:t>
            </a:r>
            <a:r>
              <a:rPr lang="en-US" altLang="zh-CN" b="1" dirty="0">
                <a:solidFill>
                  <a:schemeClr val="accent2"/>
                </a:solidFill>
              </a:rPr>
              <a:t>("Size of char: %d  bytes\n", </a:t>
            </a:r>
            <a:r>
              <a:rPr lang="en-US" altLang="zh-CN" b="1" dirty="0" err="1">
                <a:solidFill>
                  <a:schemeClr val="accent2"/>
                </a:solidFill>
              </a:rPr>
              <a:t>sizeof</a:t>
            </a:r>
            <a:r>
              <a:rPr lang="en-US" altLang="zh-CN" b="1" dirty="0">
                <a:solidFill>
                  <a:schemeClr val="accent2"/>
                </a:solidFill>
              </a:rPr>
              <a:t>(char));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</a:t>
            </a:r>
            <a:r>
              <a:rPr lang="en-US" altLang="zh-CN" b="1" dirty="0" err="1">
                <a:solidFill>
                  <a:schemeClr val="accent2"/>
                </a:solidFill>
              </a:rPr>
              <a:t>printf</a:t>
            </a:r>
            <a:r>
              <a:rPr lang="en-US" altLang="zh-CN" b="1" dirty="0">
                <a:solidFill>
                  <a:schemeClr val="accent2"/>
                </a:solidFill>
              </a:rPr>
              <a:t>("Size of short: %d  bytes\n", </a:t>
            </a:r>
            <a:r>
              <a:rPr lang="en-US" altLang="zh-CN" b="1" dirty="0" err="1">
                <a:solidFill>
                  <a:schemeClr val="accent2"/>
                </a:solidFill>
              </a:rPr>
              <a:t>sizeof</a:t>
            </a:r>
            <a:r>
              <a:rPr lang="en-US" altLang="zh-CN" b="1" dirty="0">
                <a:solidFill>
                  <a:schemeClr val="accent2"/>
                </a:solidFill>
              </a:rPr>
              <a:t>(short));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</a:t>
            </a:r>
            <a:r>
              <a:rPr lang="en-US" altLang="zh-CN" b="1" dirty="0" err="1">
                <a:solidFill>
                  <a:schemeClr val="accent2"/>
                </a:solidFill>
              </a:rPr>
              <a:t>printf</a:t>
            </a:r>
            <a:r>
              <a:rPr lang="en-US" altLang="zh-CN" b="1" dirty="0">
                <a:solidFill>
                  <a:schemeClr val="accent2"/>
                </a:solidFill>
              </a:rPr>
              <a:t>("Size of </a:t>
            </a:r>
            <a:r>
              <a:rPr lang="en-US" altLang="zh-CN" b="1" dirty="0" err="1">
                <a:solidFill>
                  <a:schemeClr val="accent2"/>
                </a:solidFill>
              </a:rPr>
              <a:t>int</a:t>
            </a:r>
            <a:r>
              <a:rPr lang="en-US" altLang="zh-CN" b="1" dirty="0">
                <a:solidFill>
                  <a:schemeClr val="accent2"/>
                </a:solidFill>
              </a:rPr>
              <a:t>: %d  bytes\n", </a:t>
            </a:r>
            <a:r>
              <a:rPr lang="en-US" altLang="zh-CN" b="1" dirty="0" err="1">
                <a:solidFill>
                  <a:schemeClr val="accent2"/>
                </a:solidFill>
              </a:rPr>
              <a:t>sizeof</a:t>
            </a:r>
            <a:r>
              <a:rPr lang="en-US" altLang="zh-CN" b="1" dirty="0">
                <a:solidFill>
                  <a:schemeClr val="accent2"/>
                </a:solidFill>
              </a:rPr>
              <a:t>(</a:t>
            </a:r>
            <a:r>
              <a:rPr lang="en-US" altLang="zh-CN" b="1" dirty="0" err="1">
                <a:solidFill>
                  <a:schemeClr val="accent2"/>
                </a:solidFill>
              </a:rPr>
              <a:t>int</a:t>
            </a:r>
            <a:r>
              <a:rPr lang="en-US" altLang="zh-CN" b="1" dirty="0">
                <a:solidFill>
                  <a:schemeClr val="accent2"/>
                </a:solidFill>
              </a:rPr>
              <a:t>));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</a:t>
            </a:r>
            <a:r>
              <a:rPr lang="en-US" altLang="zh-CN" b="1" dirty="0" err="1">
                <a:solidFill>
                  <a:schemeClr val="accent2"/>
                </a:solidFill>
              </a:rPr>
              <a:t>printf</a:t>
            </a:r>
            <a:r>
              <a:rPr lang="en-US" altLang="zh-CN" b="1" dirty="0">
                <a:solidFill>
                  <a:schemeClr val="accent2"/>
                </a:solidFill>
              </a:rPr>
              <a:t>("Size of long: %d  bytes\n", </a:t>
            </a:r>
            <a:r>
              <a:rPr lang="en-US" altLang="zh-CN" b="1" dirty="0" err="1">
                <a:solidFill>
                  <a:schemeClr val="accent2"/>
                </a:solidFill>
              </a:rPr>
              <a:t>sizeof</a:t>
            </a:r>
            <a:r>
              <a:rPr lang="en-US" altLang="zh-CN" b="1" dirty="0">
                <a:solidFill>
                  <a:schemeClr val="accent2"/>
                </a:solidFill>
              </a:rPr>
              <a:t>(long));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</a:t>
            </a:r>
            <a:r>
              <a:rPr lang="en-US" altLang="zh-CN" b="1" dirty="0" err="1">
                <a:solidFill>
                  <a:schemeClr val="accent2"/>
                </a:solidFill>
              </a:rPr>
              <a:t>printf</a:t>
            </a:r>
            <a:r>
              <a:rPr lang="en-US" altLang="zh-CN" b="1" dirty="0">
                <a:solidFill>
                  <a:schemeClr val="accent2"/>
                </a:solidFill>
              </a:rPr>
              <a:t>("Size of long </a:t>
            </a:r>
            <a:r>
              <a:rPr lang="en-US" altLang="zh-CN" b="1" dirty="0" err="1">
                <a:solidFill>
                  <a:schemeClr val="accent2"/>
                </a:solidFill>
              </a:rPr>
              <a:t>long</a:t>
            </a:r>
            <a:r>
              <a:rPr lang="en-US" altLang="zh-CN" b="1" dirty="0">
                <a:solidFill>
                  <a:schemeClr val="accent2"/>
                </a:solidFill>
              </a:rPr>
              <a:t>: %d  bytes\n", </a:t>
            </a:r>
            <a:r>
              <a:rPr lang="en-US" altLang="zh-CN" b="1" dirty="0" err="1">
                <a:solidFill>
                  <a:schemeClr val="accent2"/>
                </a:solidFill>
              </a:rPr>
              <a:t>sizeof</a:t>
            </a:r>
            <a:r>
              <a:rPr lang="en-US" altLang="zh-CN" b="1" dirty="0">
                <a:solidFill>
                  <a:schemeClr val="accent2"/>
                </a:solidFill>
              </a:rPr>
              <a:t>(long long));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</a:t>
            </a:r>
            <a:r>
              <a:rPr lang="en-US" altLang="zh-CN" b="1" dirty="0" err="1">
                <a:solidFill>
                  <a:schemeClr val="accent2"/>
                </a:solidFill>
              </a:rPr>
              <a:t>printf</a:t>
            </a:r>
            <a:r>
              <a:rPr lang="en-US" altLang="zh-CN" b="1" dirty="0">
                <a:solidFill>
                  <a:schemeClr val="accent2"/>
                </a:solidFill>
              </a:rPr>
              <a:t>("Size of float: %d  bytes\n", </a:t>
            </a:r>
            <a:r>
              <a:rPr lang="en-US" altLang="zh-CN" b="1" dirty="0" err="1">
                <a:solidFill>
                  <a:schemeClr val="accent2"/>
                </a:solidFill>
              </a:rPr>
              <a:t>sizeof</a:t>
            </a:r>
            <a:r>
              <a:rPr lang="en-US" altLang="zh-CN" b="1" dirty="0">
                <a:solidFill>
                  <a:schemeClr val="accent2"/>
                </a:solidFill>
              </a:rPr>
              <a:t>(float));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</a:t>
            </a:r>
            <a:r>
              <a:rPr lang="en-US" altLang="zh-CN" b="1" dirty="0" err="1">
                <a:solidFill>
                  <a:schemeClr val="accent2"/>
                </a:solidFill>
              </a:rPr>
              <a:t>printf</a:t>
            </a:r>
            <a:r>
              <a:rPr lang="en-US" altLang="zh-CN" b="1" dirty="0">
                <a:solidFill>
                  <a:schemeClr val="accent2"/>
                </a:solidFill>
              </a:rPr>
              <a:t>("Size of double: %d  bytes\n", </a:t>
            </a:r>
            <a:r>
              <a:rPr lang="en-US" altLang="zh-CN" b="1" dirty="0" err="1">
                <a:solidFill>
                  <a:schemeClr val="accent2"/>
                </a:solidFill>
              </a:rPr>
              <a:t>sizeof</a:t>
            </a:r>
            <a:r>
              <a:rPr lang="en-US" altLang="zh-CN" b="1" dirty="0">
                <a:solidFill>
                  <a:schemeClr val="accent2"/>
                </a:solidFill>
              </a:rPr>
              <a:t>(double));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</a:t>
            </a:r>
            <a:r>
              <a:rPr lang="en-US" altLang="zh-CN" b="1" dirty="0" err="1">
                <a:solidFill>
                  <a:schemeClr val="accent2"/>
                </a:solidFill>
              </a:rPr>
              <a:t>printf</a:t>
            </a:r>
            <a:r>
              <a:rPr lang="en-US" altLang="zh-CN" b="1" dirty="0">
                <a:solidFill>
                  <a:schemeClr val="accent2"/>
                </a:solidFill>
              </a:rPr>
              <a:t>("Size of long double: %d  bytes\n", </a:t>
            </a:r>
            <a:r>
              <a:rPr lang="en-US" altLang="zh-CN" b="1" dirty="0" err="1">
                <a:solidFill>
                  <a:schemeClr val="accent2"/>
                </a:solidFill>
              </a:rPr>
              <a:t>sizeof</a:t>
            </a:r>
            <a:r>
              <a:rPr lang="en-US" altLang="zh-CN" b="1" dirty="0">
                <a:solidFill>
                  <a:schemeClr val="accent2"/>
                </a:solidFill>
              </a:rPr>
              <a:t>(long double));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return 0;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637" y="2538412"/>
            <a:ext cx="3981450" cy="19335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72166" y="6159500"/>
            <a:ext cx="11420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说明：</a:t>
            </a:r>
            <a:r>
              <a:rPr lang="en-US" altLang="zh-CN" b="1" dirty="0" smtClean="0"/>
              <a:t>32</a:t>
            </a:r>
            <a:r>
              <a:rPr lang="zh-CN" altLang="en-US" b="1" dirty="0" smtClean="0"/>
              <a:t>位和</a:t>
            </a:r>
            <a:r>
              <a:rPr lang="en-US" altLang="zh-CN" b="1" dirty="0" smtClean="0"/>
              <a:t>64</a:t>
            </a:r>
            <a:r>
              <a:rPr lang="zh-CN" altLang="en-US" b="1" dirty="0" smtClean="0"/>
              <a:t>位，相同的数据类型也有可能不同，比如</a:t>
            </a:r>
            <a:r>
              <a:rPr lang="en-US" altLang="zh-CN" b="1" dirty="0" smtClean="0"/>
              <a:t>32</a:t>
            </a:r>
            <a:r>
              <a:rPr lang="zh-CN" altLang="en-US" b="1" dirty="0" smtClean="0"/>
              <a:t>系统，</a:t>
            </a:r>
            <a:r>
              <a:rPr lang="en-US" altLang="zh-CN" b="1" dirty="0"/>
              <a:t>l</a:t>
            </a:r>
            <a:r>
              <a:rPr lang="en-US" altLang="zh-CN" b="1" dirty="0" smtClean="0"/>
              <a:t>ong</a:t>
            </a:r>
            <a:r>
              <a:rPr lang="zh-CN" altLang="en-US" b="1" dirty="0" smtClean="0"/>
              <a:t>为</a:t>
            </a:r>
            <a:r>
              <a:rPr lang="en-US" altLang="zh-CN" b="1" dirty="0"/>
              <a:t>4</a:t>
            </a:r>
            <a:r>
              <a:rPr lang="zh-CN" altLang="en-US" b="1" dirty="0" smtClean="0"/>
              <a:t>字节</a:t>
            </a:r>
            <a:r>
              <a:rPr lang="en-US" altLang="zh-CN" b="1" dirty="0" smtClean="0"/>
              <a:t>,</a:t>
            </a:r>
            <a:r>
              <a:rPr lang="zh-CN" altLang="en-US" b="1" dirty="0" smtClean="0"/>
              <a:t>在</a:t>
            </a:r>
            <a:r>
              <a:rPr lang="en-US" altLang="zh-CN" b="1" dirty="0" smtClean="0"/>
              <a:t>64</a:t>
            </a:r>
            <a:r>
              <a:rPr lang="zh-CN" altLang="en-US" b="1" dirty="0" smtClean="0"/>
              <a:t>位系统中，</a:t>
            </a:r>
            <a:r>
              <a:rPr lang="en-US" altLang="zh-CN" b="1" dirty="0" smtClean="0"/>
              <a:t>long</a:t>
            </a:r>
            <a:r>
              <a:rPr lang="zh-CN" altLang="en-US" b="1" dirty="0" smtClean="0"/>
              <a:t>为</a:t>
            </a:r>
            <a:r>
              <a:rPr lang="en-US" altLang="zh-CN" b="1" dirty="0" smtClean="0"/>
              <a:t>8</a:t>
            </a:r>
            <a:r>
              <a:rPr lang="zh-CN" altLang="en-US" b="1" dirty="0" smtClean="0"/>
              <a:t>字节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915207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格式化输入和输出</a:t>
            </a:r>
            <a:endParaRPr lang="en-US" altLang="zh-CN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997" y="1484036"/>
            <a:ext cx="10131024" cy="423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44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10922000" y="584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6"/>
          <p:cNvSpPr/>
          <p:nvPr/>
        </p:nvSpPr>
        <p:spPr>
          <a:xfrm>
            <a:off x="11176000" y="5994400"/>
            <a:ext cx="508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7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 dirty="0"/>
          </a:p>
        </p:txBody>
      </p:sp>
      <p:sp>
        <p:nvSpPr>
          <p:cNvPr id="5" name="AutoShape 8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altLang="zh-CN" sz="4000" b="1" dirty="0" err="1">
                <a:latin typeface="Noto Sans SC"/>
                <a:ea typeface="Noto Sans SC"/>
                <a:cs typeface="Noto Sans SC"/>
                <a:sym typeface="Noto Sans SC"/>
              </a:rPr>
              <a:t>指针</a:t>
            </a:r>
            <a:endParaRPr lang="en-US" sz="4000" b="1" dirty="0"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AutoShape 9"/>
          <p:cNvSpPr/>
          <p:nvPr/>
        </p:nvSpPr>
        <p:spPr>
          <a:xfrm>
            <a:off x="1016000" y="5334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16666"/>
              </a:lnSpc>
              <a:defRPr/>
            </a:pPr>
            <a:r>
              <a:rPr lang="en-US" altLang="zh-CN" sz="1600" dirty="0" err="1">
                <a:latin typeface="Noto Sans SC"/>
                <a:ea typeface="Noto Sans SC"/>
                <a:cs typeface="Noto Sans SC"/>
                <a:sym typeface="Noto Sans SC"/>
              </a:rPr>
              <a:t>掌握内存地址的访问与操作，解锁底层编程的关键密钥，探索高效代码的核心逻辑</a:t>
            </a:r>
            <a:r>
              <a:rPr lang="en-US" altLang="zh-CN" sz="1600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altLang="zh-CN" sz="1100" dirty="0"/>
          </a:p>
        </p:txBody>
      </p:sp>
    </p:spTree>
    <p:extLst>
      <p:ext uri="{BB962C8B-B14F-4D97-AF65-F5344CB8AC3E}">
        <p14:creationId xmlns:p14="http://schemas.microsoft.com/office/powerpoint/2010/main" val="1365753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指针的定义</a:t>
            </a:r>
            <a:endParaRPr lang="en-US" altLang="zh-CN" sz="3200"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07" y="1513877"/>
            <a:ext cx="5231929" cy="2882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795825" y="1662665"/>
            <a:ext cx="6126714" cy="31393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pt-BR" altLang="zh-CN" dirty="0" smtClean="0"/>
              <a:t>int main() {</a:t>
            </a:r>
          </a:p>
          <a:p>
            <a:pPr lvl="1"/>
            <a:r>
              <a:rPr lang="pt-BR" altLang="zh-CN" dirty="0" smtClean="0"/>
              <a:t>int a = 20;  // </a:t>
            </a:r>
            <a:r>
              <a:rPr lang="zh-CN" altLang="en-US" dirty="0" smtClean="0"/>
              <a:t>定义</a:t>
            </a:r>
            <a:r>
              <a:rPr lang="pt-BR" altLang="zh-CN" dirty="0" smtClean="0"/>
              <a:t>int</a:t>
            </a:r>
            <a:r>
              <a:rPr lang="zh-CN" altLang="en-US" dirty="0" smtClean="0"/>
              <a:t>的变量 </a:t>
            </a:r>
            <a:r>
              <a:rPr lang="pt-BR" altLang="zh-CN" dirty="0" smtClean="0"/>
              <a:t>a </a:t>
            </a:r>
          </a:p>
          <a:p>
            <a:pPr lvl="1"/>
            <a:r>
              <a:rPr lang="pt-BR" altLang="zh-CN" dirty="0" smtClean="0">
                <a:solidFill>
                  <a:srgbClr val="FF0000"/>
                </a:solidFill>
              </a:rPr>
              <a:t>int *pa;     // </a:t>
            </a:r>
            <a:r>
              <a:rPr lang="zh-CN" altLang="en-US" dirty="0" smtClean="0">
                <a:solidFill>
                  <a:srgbClr val="FF0000"/>
                </a:solidFill>
              </a:rPr>
              <a:t>定义</a:t>
            </a:r>
            <a:r>
              <a:rPr lang="pt-BR" altLang="zh-CN" dirty="0" smtClean="0">
                <a:solidFill>
                  <a:srgbClr val="FF0000"/>
                </a:solidFill>
              </a:rPr>
              <a:t>int*</a:t>
            </a:r>
            <a:r>
              <a:rPr lang="zh-CN" altLang="en-US" dirty="0" smtClean="0">
                <a:solidFill>
                  <a:srgbClr val="FF0000"/>
                </a:solidFill>
              </a:rPr>
              <a:t>的指针变量 </a:t>
            </a:r>
            <a:r>
              <a:rPr lang="pt-BR" altLang="zh-CN" dirty="0" smtClean="0">
                <a:solidFill>
                  <a:srgbClr val="FF0000"/>
                </a:solidFill>
              </a:rPr>
              <a:t>pa </a:t>
            </a:r>
          </a:p>
          <a:p>
            <a:pPr lvl="1"/>
            <a:r>
              <a:rPr lang="pt-BR" altLang="zh-CN" dirty="0" smtClean="0">
                <a:solidFill>
                  <a:srgbClr val="FF0000"/>
                </a:solidFill>
              </a:rPr>
              <a:t>pa = &amp;a;     // </a:t>
            </a:r>
            <a:r>
              <a:rPr lang="zh-CN" altLang="en-US" dirty="0" smtClean="0">
                <a:solidFill>
                  <a:srgbClr val="FF0000"/>
                </a:solidFill>
              </a:rPr>
              <a:t>将</a:t>
            </a:r>
            <a:r>
              <a:rPr lang="pt-BR" altLang="zh-CN" dirty="0" smtClean="0">
                <a:solidFill>
                  <a:srgbClr val="FF0000"/>
                </a:solidFill>
              </a:rPr>
              <a:t>a</a:t>
            </a:r>
            <a:r>
              <a:rPr lang="zh-CN" altLang="en-US" dirty="0" smtClean="0">
                <a:solidFill>
                  <a:srgbClr val="FF0000"/>
                </a:solidFill>
              </a:rPr>
              <a:t>的地址赋值给</a:t>
            </a:r>
            <a:r>
              <a:rPr lang="pt-BR" altLang="zh-CN" dirty="0" smtClean="0">
                <a:solidFill>
                  <a:srgbClr val="FF0000"/>
                </a:solidFill>
              </a:rPr>
              <a:t>pa</a:t>
            </a:r>
          </a:p>
          <a:p>
            <a:pPr lvl="1"/>
            <a:r>
              <a:rPr lang="pt-BR" altLang="zh-CN" dirty="0" smtClean="0">
                <a:solidFill>
                  <a:srgbClr val="FF0000"/>
                </a:solidFill>
              </a:rPr>
              <a:t>*</a:t>
            </a:r>
            <a:r>
              <a:rPr lang="en-US" altLang="zh-CN" dirty="0" smtClean="0">
                <a:solidFill>
                  <a:srgbClr val="FF0000"/>
                </a:solidFill>
              </a:rPr>
              <a:t>pa = 33;</a:t>
            </a:r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 err="1" smtClean="0">
                <a:solidFill>
                  <a:srgbClr val="FF0000"/>
                </a:solidFill>
              </a:rPr>
              <a:t>nt</a:t>
            </a:r>
            <a:r>
              <a:rPr lang="en-US" altLang="zh-CN" dirty="0" smtClean="0">
                <a:solidFill>
                  <a:srgbClr val="FF0000"/>
                </a:solidFill>
              </a:rPr>
              <a:t> c= *pa;</a:t>
            </a:r>
            <a:endParaRPr lang="pt-BR" altLang="zh-CN" dirty="0" smtClean="0">
              <a:solidFill>
                <a:srgbClr val="FF0000"/>
              </a:solidFill>
            </a:endParaRPr>
          </a:p>
          <a:p>
            <a:pPr lvl="1"/>
            <a:r>
              <a:rPr lang="pt-BR" altLang="zh-CN" dirty="0" smtClean="0"/>
              <a:t>printf("a</a:t>
            </a:r>
            <a:r>
              <a:rPr lang="zh-CN" altLang="en-US" dirty="0" smtClean="0"/>
              <a:t>的值</a:t>
            </a:r>
            <a:r>
              <a:rPr lang="en-US" altLang="zh-CN" dirty="0" smtClean="0"/>
              <a:t>(</a:t>
            </a:r>
            <a:r>
              <a:rPr lang="pt-BR" altLang="zh-CN" dirty="0" smtClean="0"/>
              <a:t>a) = %d \n", a);</a:t>
            </a:r>
          </a:p>
          <a:p>
            <a:pPr lvl="1"/>
            <a:r>
              <a:rPr lang="pt-BR" altLang="zh-CN" dirty="0" smtClean="0"/>
              <a:t>printf("a</a:t>
            </a:r>
            <a:r>
              <a:rPr lang="zh-CN" altLang="en-US" dirty="0" smtClean="0"/>
              <a:t>的地址</a:t>
            </a:r>
            <a:r>
              <a:rPr lang="en-US" altLang="zh-CN" dirty="0" smtClean="0"/>
              <a:t>(&amp;</a:t>
            </a:r>
            <a:r>
              <a:rPr lang="pt-BR" altLang="zh-CN" dirty="0" smtClean="0"/>
              <a:t>a) = %p \n", &amp;a);</a:t>
            </a:r>
          </a:p>
          <a:p>
            <a:pPr lvl="1"/>
            <a:r>
              <a:rPr lang="pt-BR" altLang="zh-CN" dirty="0" smtClean="0"/>
              <a:t>printf("pa</a:t>
            </a:r>
            <a:r>
              <a:rPr lang="zh-CN" altLang="en-US" dirty="0" smtClean="0"/>
              <a:t>的值</a:t>
            </a:r>
            <a:r>
              <a:rPr lang="en-US" altLang="zh-CN" dirty="0" smtClean="0"/>
              <a:t>(</a:t>
            </a:r>
            <a:r>
              <a:rPr lang="pt-BR" altLang="zh-CN" dirty="0" smtClean="0"/>
              <a:t>pa</a:t>
            </a:r>
            <a:r>
              <a:rPr lang="zh-CN" altLang="pt-BR" dirty="0" smtClean="0"/>
              <a:t>） </a:t>
            </a:r>
            <a:r>
              <a:rPr lang="pt-BR" altLang="zh-CN" dirty="0" smtClean="0"/>
              <a:t>= %p \n", pa);     // </a:t>
            </a:r>
            <a:r>
              <a:rPr lang="zh-CN" altLang="en-US" dirty="0" smtClean="0"/>
              <a:t>地址 </a:t>
            </a:r>
          </a:p>
          <a:p>
            <a:pPr lvl="1"/>
            <a:r>
              <a:rPr lang="pt-BR" altLang="zh-CN" dirty="0" smtClean="0"/>
              <a:t>printf("pa</a:t>
            </a:r>
            <a:r>
              <a:rPr lang="zh-CN" altLang="en-US" dirty="0" smtClean="0"/>
              <a:t>对应位置的值（*</a:t>
            </a:r>
            <a:r>
              <a:rPr lang="pt-BR" altLang="zh-CN" dirty="0" smtClean="0"/>
              <a:t>pa</a:t>
            </a:r>
            <a:r>
              <a:rPr lang="zh-CN" altLang="pt-BR" dirty="0" smtClean="0"/>
              <a:t>） </a:t>
            </a:r>
            <a:r>
              <a:rPr lang="pt-BR" altLang="zh-CN" dirty="0" smtClean="0"/>
              <a:t>= %d \n", *pa); //</a:t>
            </a:r>
            <a:r>
              <a:rPr lang="zh-CN" altLang="en-US" dirty="0" smtClean="0"/>
              <a:t>解引用 </a:t>
            </a:r>
          </a:p>
          <a:p>
            <a:r>
              <a:rPr lang="en-US" altLang="zh-CN" dirty="0" smtClean="0"/>
              <a:t>}</a:t>
            </a:r>
            <a:endParaRPr lang="pt-BR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25" y="4552351"/>
            <a:ext cx="3800475" cy="11144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936" y="4585091"/>
            <a:ext cx="3410490" cy="216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619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10922000" y="584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6"/>
          <p:cNvSpPr/>
          <p:nvPr/>
        </p:nvSpPr>
        <p:spPr>
          <a:xfrm>
            <a:off x="11176000" y="5994400"/>
            <a:ext cx="508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7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 dirty="0"/>
          </a:p>
        </p:txBody>
      </p:sp>
      <p:sp>
        <p:nvSpPr>
          <p:cNvPr id="5" name="AutoShape 8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4000" b="1" dirty="0" smtClean="0">
                <a:latin typeface="Noto Sans SC"/>
                <a:ea typeface="Noto Sans SC"/>
                <a:cs typeface="Noto Sans SC"/>
              </a:rPr>
              <a:t>数组</a:t>
            </a:r>
            <a:endParaRPr lang="en-US" sz="4000" b="1" dirty="0"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341254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>
                <a:latin typeface="Noto Sans SC"/>
                <a:ea typeface="Noto Sans SC"/>
                <a:sym typeface="Noto Sans SC"/>
              </a:rPr>
              <a:t>一维数</a:t>
            </a: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组基础</a:t>
            </a:r>
            <a:endParaRPr lang="en-US" altLang="zh-CN" sz="3200"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008" y="1325563"/>
            <a:ext cx="7224505" cy="507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617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463" y="1290969"/>
            <a:ext cx="7489963" cy="4411400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>
                <a:latin typeface="Noto Sans SC"/>
                <a:ea typeface="Noto Sans SC"/>
                <a:sym typeface="Noto Sans SC"/>
              </a:rPr>
              <a:t>一维数</a:t>
            </a: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组函数传参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357225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41" y="3375370"/>
            <a:ext cx="9629775" cy="2790825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>
                <a:latin typeface="Noto Sans SC"/>
                <a:ea typeface="Noto Sans SC"/>
                <a:sym typeface="Noto Sans SC"/>
              </a:rPr>
              <a:t>一维数</a:t>
            </a: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组与指针</a:t>
            </a:r>
            <a:endParaRPr lang="en-US" altLang="zh-CN" sz="32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65496"/>
              </p:ext>
            </p:extLst>
          </p:nvPr>
        </p:nvGraphicFramePr>
        <p:xfrm>
          <a:off x="2084420" y="1620914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6435893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541045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2950655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4311778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7474302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20061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  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 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705635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295548" y="16513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199945" y="2065940"/>
            <a:ext cx="1083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a[0]</a:t>
            </a:r>
          </a:p>
          <a:p>
            <a:endParaRPr lang="en-US" altLang="zh-CN" dirty="0" smtClean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15414" y="2053752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a[1]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995482" y="2038435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a[2]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6227864" y="2049000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a[3]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640814" y="18360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7607932" y="2038384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a[4]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8988000" y="2041178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a[5]</a:t>
            </a:r>
            <a:endParaRPr lang="zh-CN" altLang="en-US" dirty="0"/>
          </a:p>
        </p:txBody>
      </p:sp>
      <p:sp>
        <p:nvSpPr>
          <p:cNvPr id="2" name="上箭头 1"/>
          <p:cNvSpPr/>
          <p:nvPr/>
        </p:nvSpPr>
        <p:spPr>
          <a:xfrm>
            <a:off x="1868557" y="2065940"/>
            <a:ext cx="243540" cy="7368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上箭头 15"/>
          <p:cNvSpPr/>
          <p:nvPr/>
        </p:nvSpPr>
        <p:spPr>
          <a:xfrm>
            <a:off x="6002077" y="2247343"/>
            <a:ext cx="243540" cy="7368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757966" y="260467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p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245617" y="2588523"/>
            <a:ext cx="1083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p</a:t>
            </a:r>
            <a:r>
              <a:rPr lang="en-US" altLang="zh-CN" dirty="0" smtClean="0">
                <a:solidFill>
                  <a:schemeClr val="accent2"/>
                </a:solidFill>
              </a:rPr>
              <a:t>[0]</a:t>
            </a:r>
          </a:p>
          <a:p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61086" y="2576335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p</a:t>
            </a:r>
            <a:r>
              <a:rPr lang="en-US" altLang="zh-CN" dirty="0" smtClean="0">
                <a:solidFill>
                  <a:schemeClr val="accent2"/>
                </a:solidFill>
              </a:rPr>
              <a:t>[1]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041154" y="2561018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p</a:t>
            </a:r>
            <a:r>
              <a:rPr lang="en-US" altLang="zh-CN" dirty="0" smtClean="0">
                <a:solidFill>
                  <a:schemeClr val="accent2"/>
                </a:solidFill>
              </a:rPr>
              <a:t>[2]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299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二维数</a:t>
            </a:r>
            <a:r>
              <a:rPr lang="zh-CN" altLang="en-US" sz="3200" b="1" dirty="0">
                <a:latin typeface="Noto Sans SC"/>
                <a:ea typeface="Noto Sans SC"/>
                <a:sym typeface="Noto Sans SC"/>
              </a:rPr>
              <a:t>组</a:t>
            </a:r>
            <a:endParaRPr lang="en-US" altLang="zh-CN" sz="3200" dirty="0"/>
          </a:p>
        </p:txBody>
      </p:sp>
      <p:sp>
        <p:nvSpPr>
          <p:cNvPr id="3" name="AutoShape 3"/>
          <p:cNvSpPr/>
          <p:nvPr/>
        </p:nvSpPr>
        <p:spPr>
          <a:xfrm>
            <a:off x="857250" y="10080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763" y="1643063"/>
            <a:ext cx="7341672" cy="2867162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929489"/>
              </p:ext>
            </p:extLst>
          </p:nvPr>
        </p:nvGraphicFramePr>
        <p:xfrm>
          <a:off x="1272469" y="4710043"/>
          <a:ext cx="3335130" cy="979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710">
                  <a:extLst>
                    <a:ext uri="{9D8B030D-6E8A-4147-A177-3AD203B41FA5}">
                      <a16:colId xmlns:a16="http://schemas.microsoft.com/office/drawing/2014/main" val="1220380038"/>
                    </a:ext>
                  </a:extLst>
                </a:gridCol>
                <a:gridCol w="1111710">
                  <a:extLst>
                    <a:ext uri="{9D8B030D-6E8A-4147-A177-3AD203B41FA5}">
                      <a16:colId xmlns:a16="http://schemas.microsoft.com/office/drawing/2014/main" val="3269158210"/>
                    </a:ext>
                  </a:extLst>
                </a:gridCol>
                <a:gridCol w="1111710">
                  <a:extLst>
                    <a:ext uri="{9D8B030D-6E8A-4147-A177-3AD203B41FA5}">
                      <a16:colId xmlns:a16="http://schemas.microsoft.com/office/drawing/2014/main" val="4011839692"/>
                    </a:ext>
                  </a:extLst>
                </a:gridCol>
              </a:tblGrid>
              <a:tr h="48988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627316"/>
                  </a:ext>
                </a:extLst>
              </a:tr>
              <a:tr h="48988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39628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999257" y="4710043"/>
            <a:ext cx="23839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accent2"/>
                </a:solidFill>
              </a:rPr>
              <a:t>注意：</a:t>
            </a:r>
            <a:endParaRPr lang="en-US" altLang="zh-CN" b="1" dirty="0" smtClean="0">
              <a:solidFill>
                <a:schemeClr val="accent2"/>
              </a:solidFill>
            </a:endParaRPr>
          </a:p>
          <a:p>
            <a:r>
              <a:rPr lang="en-US" altLang="zh-CN" b="1" dirty="0" smtClean="0">
                <a:solidFill>
                  <a:schemeClr val="accent2"/>
                </a:solidFill>
              </a:rPr>
              <a:t>1</a:t>
            </a:r>
            <a:r>
              <a:rPr lang="zh-CN" altLang="en-US" b="1" dirty="0" smtClean="0">
                <a:solidFill>
                  <a:schemeClr val="accent2"/>
                </a:solidFill>
              </a:rPr>
              <a:t>）下标均从</a:t>
            </a:r>
            <a:r>
              <a:rPr lang="en-US" altLang="zh-CN" b="1" dirty="0" smtClean="0">
                <a:solidFill>
                  <a:schemeClr val="accent2"/>
                </a:solidFill>
              </a:rPr>
              <a:t>0</a:t>
            </a:r>
            <a:r>
              <a:rPr lang="zh-CN" altLang="en-US" b="1" dirty="0" smtClean="0">
                <a:solidFill>
                  <a:schemeClr val="accent2"/>
                </a:solidFill>
              </a:rPr>
              <a:t>开始</a:t>
            </a:r>
            <a:endParaRPr lang="en-US" altLang="zh-CN" b="1" dirty="0" smtClean="0">
              <a:solidFill>
                <a:schemeClr val="accent2"/>
              </a:solidFill>
            </a:endParaRPr>
          </a:p>
          <a:p>
            <a:r>
              <a:rPr lang="en-US" altLang="zh-CN" b="1" dirty="0" smtClean="0">
                <a:solidFill>
                  <a:schemeClr val="accent2"/>
                </a:solidFill>
              </a:rPr>
              <a:t>2</a:t>
            </a:r>
            <a:r>
              <a:rPr lang="zh-CN" altLang="en-US" b="1" dirty="0" smtClean="0">
                <a:solidFill>
                  <a:schemeClr val="accent2"/>
                </a:solidFill>
              </a:rPr>
              <a:t>）先</a:t>
            </a:r>
            <a:r>
              <a:rPr lang="en-US" altLang="zh-CN" b="1" dirty="0" smtClean="0">
                <a:solidFill>
                  <a:schemeClr val="accent2"/>
                </a:solidFill>
              </a:rPr>
              <a:t>【</a:t>
            </a:r>
            <a:r>
              <a:rPr lang="zh-CN" altLang="en-US" b="1" dirty="0" smtClean="0">
                <a:solidFill>
                  <a:schemeClr val="accent2"/>
                </a:solidFill>
              </a:rPr>
              <a:t>行</a:t>
            </a:r>
            <a:r>
              <a:rPr lang="en-US" altLang="zh-CN" b="1" dirty="0" smtClean="0">
                <a:solidFill>
                  <a:schemeClr val="accent2"/>
                </a:solidFill>
              </a:rPr>
              <a:t>】</a:t>
            </a:r>
            <a:r>
              <a:rPr lang="zh-CN" altLang="en-US" b="1" dirty="0" smtClean="0">
                <a:solidFill>
                  <a:schemeClr val="accent2"/>
                </a:solidFill>
              </a:rPr>
              <a:t>后</a:t>
            </a:r>
            <a:r>
              <a:rPr lang="en-US" altLang="zh-CN" b="1" dirty="0" smtClean="0">
                <a:solidFill>
                  <a:schemeClr val="accent2"/>
                </a:solidFill>
              </a:rPr>
              <a:t>【</a:t>
            </a:r>
            <a:r>
              <a:rPr lang="zh-CN" altLang="en-US" b="1" dirty="0" smtClean="0">
                <a:solidFill>
                  <a:schemeClr val="accent2"/>
                </a:solidFill>
              </a:rPr>
              <a:t>列</a:t>
            </a:r>
            <a:r>
              <a:rPr lang="en-US" altLang="zh-CN" b="1" dirty="0" smtClean="0">
                <a:solidFill>
                  <a:schemeClr val="accent2"/>
                </a:solidFill>
              </a:rPr>
              <a:t>】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049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10922000" y="584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6"/>
          <p:cNvSpPr/>
          <p:nvPr/>
        </p:nvSpPr>
        <p:spPr>
          <a:xfrm>
            <a:off x="11176000" y="5994400"/>
            <a:ext cx="508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7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 dirty="0"/>
          </a:p>
        </p:txBody>
      </p:sp>
      <p:sp>
        <p:nvSpPr>
          <p:cNvPr id="5" name="AutoShape 8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4000" b="1" dirty="0" smtClean="0">
                <a:latin typeface="Noto Sans SC"/>
                <a:ea typeface="Noto Sans SC"/>
                <a:cs typeface="Noto Sans SC"/>
              </a:rPr>
              <a:t>字符串</a:t>
            </a:r>
            <a:endParaRPr lang="en-US" sz="4000" b="1" dirty="0"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224981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字符串的定义</a:t>
            </a:r>
            <a:endParaRPr lang="en-US" altLang="zh-CN" sz="3200"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00FFFF">
              <a:alpha val="1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050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C语言中没有原生的字符串类型。字符串本质上是以</a:t>
            </a:r>
            <a:r>
              <a:rPr lang="en-US" sz="14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空字符 `\0`</a:t>
            </a: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作为结束标志的`char`数组，所有字符串处理函数均通过该标志来判断字符串的结束位置。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141414">
              <a:alpha val="70000"/>
            </a:srgbClr>
          </a:solidFill>
          <a:ln w="12700" cap="flat" cmpd="sng">
            <a:solidFill>
              <a:srgbClr val="00F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34290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char str1[] = "Hello"; // 编译器自动在末尾隐式添加 '\0' 结束符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char str2[6] = {'H','e','l','l','o','\0'}; // 手动初始化必须显式写入 '\0'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5080000"/>
            <a:ext cx="5334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52070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⚠️ 注意：若手动初始化字符数组时遗漏 `\0`，程序将无法正确识别字符串边界，可能导致读取到内存中的随机数据，引发不可预知的错误。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89889">
            <a:off x="4191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rcRect l="6116" r="6116"/>
          <a:stretch>
            <a:fillRect/>
          </a:stretch>
        </p:blipFill>
        <p:spPr>
          <a:xfrm>
            <a:off x="6604000" y="1778000"/>
            <a:ext cx="4826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6604000" y="4064000"/>
            <a:ext cx="1524000" cy="2032000"/>
          </a:xfrm>
          <a:prstGeom prst="roundRect">
            <a:avLst>
              <a:gd name="adj" fmla="val 0"/>
            </a:avLst>
          </a:prstGeom>
          <a:solidFill>
            <a:srgbClr val="00FFFF">
              <a:alpha val="10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731000" y="4254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4216400"/>
            <a:ext cx="95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strlen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34376">
            <a:off x="6731032" y="469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731000" y="4826000"/>
            <a:ext cx="127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计算字符串的实际有效长度，结果</a:t>
            </a:r>
            <a:r>
              <a:rPr lang="en-US" sz="12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不包含</a:t>
            </a:r>
            <a:r>
              <a:rPr lang="en-US" sz="12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末尾的结束符 `\0`。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4064000"/>
            <a:ext cx="1524000" cy="2032000"/>
          </a:xfrm>
          <a:prstGeom prst="roundRect">
            <a:avLst>
              <a:gd name="adj" fmla="val 0"/>
            </a:avLst>
          </a:prstGeom>
          <a:solidFill>
            <a:srgbClr val="00FFFF">
              <a:alpha val="10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382000" y="4254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4216400"/>
            <a:ext cx="95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sizeof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34376">
            <a:off x="8382032" y="469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82000" y="4826000"/>
            <a:ext cx="127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返回整个数组占用的内存字节数，结果</a:t>
            </a:r>
            <a:r>
              <a:rPr lang="en-US" sz="12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包含</a:t>
            </a:r>
            <a:r>
              <a:rPr lang="en-US" sz="12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结束符 `\0` 和未使用空间。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906000" y="4064000"/>
            <a:ext cx="1524000" cy="2032000"/>
          </a:xfrm>
          <a:prstGeom prst="roundRect">
            <a:avLst>
              <a:gd name="adj" fmla="val 0"/>
            </a:avLst>
          </a:prstGeom>
          <a:solidFill>
            <a:srgbClr val="FF4D4F">
              <a:alpha val="10000"/>
            </a:srgbClr>
          </a:solidFill>
          <a:ln w="12700" cap="flat" cmpd="sng">
            <a:solidFill>
              <a:srgbClr val="FF4D4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0033000" y="4254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0414000" y="4216400"/>
            <a:ext cx="95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缓冲区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34376">
            <a:off x="10033032" y="469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4D4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10033000" y="4826000"/>
            <a:ext cx="127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使用strcpy/strcat等函数时，务必确保目标数组有足够空间容纳数据和`\0`。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706848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字符串与指针</a:t>
            </a:r>
            <a:endParaRPr lang="en-US" altLang="zh-CN" sz="3200"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192" y="1243841"/>
            <a:ext cx="7439025" cy="25908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419" y="4217711"/>
            <a:ext cx="3571875" cy="2219325"/>
          </a:xfrm>
          <a:prstGeom prst="rect">
            <a:avLst/>
          </a:prstGeom>
        </p:spPr>
      </p:pic>
      <p:sp>
        <p:nvSpPr>
          <p:cNvPr id="29" name="右箭头 28"/>
          <p:cNvSpPr/>
          <p:nvPr/>
        </p:nvSpPr>
        <p:spPr>
          <a:xfrm>
            <a:off x="6010896" y="5078895"/>
            <a:ext cx="659295" cy="4969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775" y="5350221"/>
            <a:ext cx="2076450" cy="333375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7430949" y="470956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运行结果：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6690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787" y="1236663"/>
            <a:ext cx="6161087" cy="4607103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字符串的输入和输出（</a:t>
            </a:r>
            <a:r>
              <a:rPr lang="en-US" altLang="zh-CN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gets</a:t>
            </a:r>
            <a:r>
              <a:rPr lang="zh-CN" altLang="en-US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puts)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050096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字符串的应用</a:t>
            </a:r>
            <a:endParaRPr lang="en-US" altLang="zh-CN" sz="32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640001"/>
              </p:ext>
            </p:extLst>
          </p:nvPr>
        </p:nvGraphicFramePr>
        <p:xfrm>
          <a:off x="660400" y="2121082"/>
          <a:ext cx="43174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681">
                  <a:extLst>
                    <a:ext uri="{9D8B030D-6E8A-4147-A177-3AD203B41FA5}">
                      <a16:colId xmlns:a16="http://schemas.microsoft.com/office/drawing/2014/main" val="281909772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236176914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361294575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672037666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39362662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394074130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98774087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590321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\0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865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\0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18106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976852"/>
              </p:ext>
            </p:extLst>
          </p:nvPr>
        </p:nvGraphicFramePr>
        <p:xfrm>
          <a:off x="660400" y="3430319"/>
          <a:ext cx="43174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681">
                  <a:extLst>
                    <a:ext uri="{9D8B030D-6E8A-4147-A177-3AD203B41FA5}">
                      <a16:colId xmlns:a16="http://schemas.microsoft.com/office/drawing/2014/main" val="281909772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236176914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361294575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672037666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39362662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394074130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98774087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590321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865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 smtClean="0"/>
                        <a:t>D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\0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181061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59025" y="2121082"/>
            <a:ext cx="425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S1</a:t>
            </a:r>
          </a:p>
          <a:p>
            <a:r>
              <a:rPr lang="en-US" altLang="zh-CN" dirty="0" smtClean="0"/>
              <a:t>S2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4273" y="3493803"/>
            <a:ext cx="425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S1</a:t>
            </a:r>
          </a:p>
          <a:p>
            <a:r>
              <a:rPr lang="en-US" altLang="zh-CN" dirty="0" smtClean="0"/>
              <a:t>S2</a:t>
            </a:r>
            <a:endParaRPr lang="zh-CN" altLang="en-US" dirty="0"/>
          </a:p>
        </p:txBody>
      </p:sp>
      <p:sp>
        <p:nvSpPr>
          <p:cNvPr id="8" name="下箭头 7"/>
          <p:cNvSpPr/>
          <p:nvPr/>
        </p:nvSpPr>
        <p:spPr>
          <a:xfrm>
            <a:off x="2206212" y="1421295"/>
            <a:ext cx="434835" cy="5589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94640"/>
              </p:ext>
            </p:extLst>
          </p:nvPr>
        </p:nvGraphicFramePr>
        <p:xfrm>
          <a:off x="660400" y="4764692"/>
          <a:ext cx="431744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681">
                  <a:extLst>
                    <a:ext uri="{9D8B030D-6E8A-4147-A177-3AD203B41FA5}">
                      <a16:colId xmlns:a16="http://schemas.microsoft.com/office/drawing/2014/main" val="281909772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236176914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361294575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672037666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39362662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394074130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98774087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590321993"/>
                    </a:ext>
                  </a:extLst>
                </a:gridCol>
              </a:tblGrid>
              <a:tr h="35576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E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865954"/>
                  </a:ext>
                </a:extLst>
              </a:tr>
              <a:tr h="355764">
                <a:tc>
                  <a:txBody>
                    <a:bodyPr/>
                    <a:lstStyle/>
                    <a:p>
                      <a:r>
                        <a:rPr lang="en-US" altLang="zh-CN" b="1" dirty="0" smtClean="0"/>
                        <a:t>D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\0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181061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82766" y="4607088"/>
            <a:ext cx="425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S1</a:t>
            </a:r>
          </a:p>
          <a:p>
            <a:r>
              <a:rPr lang="en-US" altLang="zh-CN" dirty="0" smtClean="0"/>
              <a:t>S2</a:t>
            </a:r>
            <a:endParaRPr lang="zh-CN" alt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645703"/>
              </p:ext>
            </p:extLst>
          </p:nvPr>
        </p:nvGraphicFramePr>
        <p:xfrm>
          <a:off x="660400" y="5979809"/>
          <a:ext cx="43174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681">
                  <a:extLst>
                    <a:ext uri="{9D8B030D-6E8A-4147-A177-3AD203B41FA5}">
                      <a16:colId xmlns:a16="http://schemas.microsoft.com/office/drawing/2014/main" val="281909772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236176914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361294575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672037666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39362662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394074130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98774087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590321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E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\0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865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 smtClean="0"/>
                        <a:t>D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181061"/>
                  </a:ext>
                </a:extLst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20255" y="5979809"/>
            <a:ext cx="425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S1</a:t>
            </a:r>
          </a:p>
          <a:p>
            <a:r>
              <a:rPr lang="en-US" altLang="zh-CN" dirty="0" smtClean="0"/>
              <a:t>S2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2641047" y="142129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/>
              <a:t>找结束符号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84141" y="302251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第一轮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84141" y="435866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第二轮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660400" y="558927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第三轮</a:t>
            </a:r>
            <a:endParaRPr lang="zh-CN" altLang="en-US" dirty="0"/>
          </a:p>
        </p:txBody>
      </p: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82766" y="989678"/>
            <a:ext cx="69749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题目：以下程序的功能是：将两个字符串连接起来（将s2连接到s1后面）。</a:t>
            </a:r>
            <a:endParaRPr kumimoji="0" lang="zh-CN" altLang="zh-CN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130366" y="1410354"/>
            <a:ext cx="5023404" cy="544764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pt-BR" altLang="zh-CN" sz="1200" dirty="0"/>
              <a:t>#include &lt;iostream&gt;</a:t>
            </a:r>
          </a:p>
          <a:p>
            <a:r>
              <a:rPr lang="pt-BR" altLang="zh-CN" sz="1200" dirty="0"/>
              <a:t>#include &lt;stdio.h&gt;</a:t>
            </a:r>
          </a:p>
          <a:p>
            <a:r>
              <a:rPr lang="pt-BR" altLang="zh-CN" sz="1200" dirty="0"/>
              <a:t>int main(){</a:t>
            </a:r>
          </a:p>
          <a:p>
            <a:r>
              <a:rPr lang="pt-BR" altLang="zh-CN" sz="1200" dirty="0"/>
              <a:t>    char s1[80], s2[80];</a:t>
            </a:r>
          </a:p>
          <a:p>
            <a:r>
              <a:rPr lang="pt-BR" altLang="zh-CN" sz="1200" dirty="0"/>
              <a:t>    void scat(char s1[], char s2[]);</a:t>
            </a:r>
          </a:p>
          <a:p>
            <a:r>
              <a:rPr lang="pt-BR" altLang="zh-CN" sz="1200" dirty="0"/>
              <a:t>    printf("</a:t>
            </a:r>
            <a:r>
              <a:rPr lang="zh-CN" altLang="en-US" sz="1200" dirty="0"/>
              <a:t>请输入第一个字符串</a:t>
            </a:r>
            <a:r>
              <a:rPr lang="pt-BR" altLang="zh-CN" sz="1200" dirty="0"/>
              <a:t>s1:\n");</a:t>
            </a:r>
          </a:p>
          <a:p>
            <a:r>
              <a:rPr lang="pt-BR" altLang="zh-CN" sz="1200" dirty="0"/>
              <a:t>    gets(s1);  // </a:t>
            </a:r>
            <a:r>
              <a:rPr lang="zh-CN" altLang="en-US" sz="1200" dirty="0"/>
              <a:t>等价于</a:t>
            </a:r>
            <a:r>
              <a:rPr lang="pt-BR" altLang="zh-CN" sz="1200" dirty="0"/>
              <a:t>scanf </a:t>
            </a:r>
          </a:p>
          <a:p>
            <a:r>
              <a:rPr lang="pt-BR" altLang="zh-CN" sz="1200" dirty="0"/>
              <a:t>    printf("</a:t>
            </a:r>
            <a:r>
              <a:rPr lang="zh-CN" altLang="en-US" sz="1200" dirty="0"/>
              <a:t>请输入第二个字符串</a:t>
            </a:r>
            <a:r>
              <a:rPr lang="pt-BR" altLang="zh-CN" sz="1200" dirty="0"/>
              <a:t>s2:\n");</a:t>
            </a:r>
          </a:p>
          <a:p>
            <a:r>
              <a:rPr lang="pt-BR" altLang="zh-CN" sz="1200" dirty="0"/>
              <a:t>    gets(s2);  // </a:t>
            </a:r>
            <a:r>
              <a:rPr lang="zh-CN" altLang="en-US" sz="1200" dirty="0"/>
              <a:t>等价于</a:t>
            </a:r>
            <a:r>
              <a:rPr lang="pt-BR" altLang="zh-CN" sz="1200" dirty="0"/>
              <a:t>scanf</a:t>
            </a:r>
          </a:p>
          <a:p>
            <a:r>
              <a:rPr lang="pt-BR" altLang="zh-CN" sz="1200" dirty="0"/>
              <a:t>    scat(s1, s2);</a:t>
            </a:r>
          </a:p>
          <a:p>
            <a:r>
              <a:rPr lang="pt-BR" altLang="zh-CN" sz="1200" dirty="0"/>
              <a:t>    puts(s1);  // </a:t>
            </a:r>
            <a:r>
              <a:rPr lang="zh-CN" altLang="en-US" sz="1200" dirty="0"/>
              <a:t>等价于</a:t>
            </a:r>
            <a:r>
              <a:rPr lang="pt-BR" altLang="zh-CN" sz="1200" dirty="0"/>
              <a:t>printf</a:t>
            </a:r>
          </a:p>
          <a:p>
            <a:r>
              <a:rPr lang="pt-BR" altLang="zh-CN" sz="1200" dirty="0"/>
              <a:t>    return 0;</a:t>
            </a:r>
          </a:p>
          <a:p>
            <a:r>
              <a:rPr lang="pt-BR" altLang="zh-CN" sz="1200" dirty="0"/>
              <a:t>}</a:t>
            </a:r>
          </a:p>
          <a:p>
            <a:endParaRPr lang="pt-BR" altLang="zh-CN" sz="1200" dirty="0"/>
          </a:p>
          <a:p>
            <a:r>
              <a:rPr lang="pt-BR" altLang="zh-CN" sz="1200" dirty="0"/>
              <a:t>void scat (char s1[], char s2[]){</a:t>
            </a:r>
          </a:p>
          <a:p>
            <a:r>
              <a:rPr lang="pt-BR" altLang="zh-CN" sz="1200" dirty="0"/>
              <a:t>	int i=0, j=0;</a:t>
            </a:r>
          </a:p>
          <a:p>
            <a:r>
              <a:rPr lang="pt-BR" altLang="zh-CN" sz="1200" dirty="0"/>
              <a:t>	while (s1[i] != '\0')    // </a:t>
            </a:r>
            <a:r>
              <a:rPr lang="zh-CN" altLang="en-US" sz="1200" dirty="0"/>
              <a:t>找到</a:t>
            </a:r>
            <a:r>
              <a:rPr lang="pt-BR" altLang="zh-CN" sz="1200" dirty="0"/>
              <a:t>s1</a:t>
            </a:r>
            <a:r>
              <a:rPr lang="zh-CN" altLang="en-US" sz="1200" dirty="0"/>
              <a:t>的结束位置 </a:t>
            </a:r>
          </a:p>
          <a:p>
            <a:r>
              <a:rPr lang="zh-CN" altLang="en-US" sz="1200" dirty="0"/>
              <a:t>	</a:t>
            </a:r>
            <a:r>
              <a:rPr lang="en-US" altLang="zh-CN" sz="1200" dirty="0"/>
              <a:t>{</a:t>
            </a:r>
          </a:p>
          <a:p>
            <a:r>
              <a:rPr lang="en-US" altLang="zh-CN" sz="1200" dirty="0"/>
              <a:t>	   </a:t>
            </a:r>
            <a:r>
              <a:rPr lang="pt-BR" altLang="zh-CN" sz="1200" dirty="0"/>
              <a:t>i++;</a:t>
            </a:r>
          </a:p>
          <a:p>
            <a:r>
              <a:rPr lang="pt-BR" altLang="zh-CN" sz="1200" dirty="0"/>
              <a:t>	};</a:t>
            </a:r>
          </a:p>
          <a:p>
            <a:r>
              <a:rPr lang="pt-BR" altLang="zh-CN" sz="1200" dirty="0"/>
              <a:t>	while (s2[j] != </a:t>
            </a:r>
            <a:r>
              <a:rPr lang="pt-BR" altLang="zh-CN" sz="1200" dirty="0" smtClean="0"/>
              <a:t>‘\0’) </a:t>
            </a:r>
            <a:r>
              <a:rPr lang="pt-BR" altLang="zh-CN" sz="1200" dirty="0"/>
              <a:t>// </a:t>
            </a:r>
            <a:r>
              <a:rPr lang="zh-CN" altLang="en-US" sz="1200" dirty="0"/>
              <a:t>从</a:t>
            </a:r>
            <a:r>
              <a:rPr lang="pt-BR" altLang="zh-CN" sz="1200" dirty="0"/>
              <a:t>s</a:t>
            </a:r>
            <a:r>
              <a:rPr lang="zh-CN" altLang="en-US" sz="1200" dirty="0"/>
              <a:t>的结束位置开始赋值</a:t>
            </a:r>
            <a:r>
              <a:rPr lang="zh-CN" altLang="en-US" sz="1200" dirty="0" smtClean="0"/>
              <a:t>，直到</a:t>
            </a:r>
            <a:r>
              <a:rPr lang="pt-BR" altLang="zh-CN" sz="1200" dirty="0" smtClean="0"/>
              <a:t>S2</a:t>
            </a:r>
            <a:r>
              <a:rPr lang="zh-CN" altLang="en-US" sz="1200" dirty="0"/>
              <a:t>结束 </a:t>
            </a:r>
          </a:p>
          <a:p>
            <a:r>
              <a:rPr lang="zh-CN" altLang="en-US" sz="1200" dirty="0"/>
              <a:t>	</a:t>
            </a:r>
            <a:r>
              <a:rPr lang="en-US" altLang="zh-CN" sz="1200" dirty="0"/>
              <a:t>{</a:t>
            </a:r>
          </a:p>
          <a:p>
            <a:r>
              <a:rPr lang="en-US" altLang="zh-CN" sz="1200" dirty="0"/>
              <a:t>	   </a:t>
            </a:r>
            <a:r>
              <a:rPr lang="pt-BR" altLang="zh-CN" sz="1200" dirty="0"/>
              <a:t>s1[i]=s2[j];</a:t>
            </a:r>
          </a:p>
          <a:p>
            <a:r>
              <a:rPr lang="pt-BR" altLang="zh-CN" sz="1200" dirty="0"/>
              <a:t>	    i++;</a:t>
            </a:r>
          </a:p>
          <a:p>
            <a:r>
              <a:rPr lang="pt-BR" altLang="zh-CN" sz="1200" dirty="0"/>
              <a:t>	   j++;</a:t>
            </a:r>
          </a:p>
          <a:p>
            <a:r>
              <a:rPr lang="pt-BR" altLang="zh-CN" sz="1200" dirty="0"/>
              <a:t>	}</a:t>
            </a:r>
          </a:p>
          <a:p>
            <a:r>
              <a:rPr lang="pt-BR" altLang="zh-CN" sz="1200" dirty="0"/>
              <a:t>	s1[i]='\0';// </a:t>
            </a:r>
            <a:r>
              <a:rPr lang="zh-CN" altLang="en-US" sz="1200" dirty="0"/>
              <a:t>定义结束字符 </a:t>
            </a:r>
          </a:p>
          <a:p>
            <a:r>
              <a:rPr lang="en-US" altLang="zh-CN" sz="1200" dirty="0"/>
              <a:t>}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462" y="5745141"/>
            <a:ext cx="2962275" cy="78105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0614991" y="533731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运行结果：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6147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10922000" y="584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6"/>
          <p:cNvSpPr/>
          <p:nvPr/>
        </p:nvSpPr>
        <p:spPr>
          <a:xfrm>
            <a:off x="11176000" y="5994400"/>
            <a:ext cx="508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7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 dirty="0"/>
          </a:p>
        </p:txBody>
      </p:sp>
      <p:sp>
        <p:nvSpPr>
          <p:cNvPr id="5" name="AutoShape 8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4000" b="1" dirty="0" smtClean="0">
                <a:latin typeface="Noto Sans SC"/>
                <a:ea typeface="Noto Sans SC"/>
                <a:cs typeface="Noto Sans SC"/>
              </a:rPr>
              <a:t>结构体</a:t>
            </a:r>
            <a:endParaRPr lang="en-US" sz="4000" b="1" dirty="0"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228458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结构体的基础用法</a:t>
            </a:r>
            <a:endParaRPr lang="en-US" altLang="zh-CN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750" y="1325563"/>
            <a:ext cx="7639050" cy="504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810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2929" y="551807"/>
            <a:ext cx="10515600" cy="1325563"/>
          </a:xfrm>
        </p:spPr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cxnSp>
        <p:nvCxnSpPr>
          <p:cNvPr id="4" name="肘形连接符 3"/>
          <p:cNvCxnSpPr/>
          <p:nvPr/>
        </p:nvCxnSpPr>
        <p:spPr>
          <a:xfrm>
            <a:off x="6465796" y="768914"/>
            <a:ext cx="1520687" cy="88561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603250" y="102705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390135" y="18636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431277" y="18636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cxnSp>
        <p:nvCxnSpPr>
          <p:cNvPr id="8" name="肘形连接符 7"/>
          <p:cNvCxnSpPr/>
          <p:nvPr/>
        </p:nvCxnSpPr>
        <p:spPr>
          <a:xfrm>
            <a:off x="6688616" y="1654532"/>
            <a:ext cx="1520687" cy="88561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912172" y="187867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679989" y="274925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431277" y="268568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cxnSp>
        <p:nvCxnSpPr>
          <p:cNvPr id="20" name="肘形连接符 19"/>
          <p:cNvCxnSpPr/>
          <p:nvPr/>
        </p:nvCxnSpPr>
        <p:spPr>
          <a:xfrm>
            <a:off x="2549630" y="1027057"/>
            <a:ext cx="1520687" cy="88561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687084" y="1285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3473969" y="212177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4515111" y="212177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cxnSp>
        <p:nvCxnSpPr>
          <p:cNvPr id="24" name="肘形连接符 23"/>
          <p:cNvCxnSpPr/>
          <p:nvPr/>
        </p:nvCxnSpPr>
        <p:spPr>
          <a:xfrm>
            <a:off x="2549629" y="1863635"/>
            <a:ext cx="1520687" cy="88561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2996006" y="213682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3763823" y="300739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4515111" y="293392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28" name="标题 1"/>
          <p:cNvSpPr txBox="1">
            <a:spLocks/>
          </p:cNvSpPr>
          <p:nvPr/>
        </p:nvSpPr>
        <p:spPr>
          <a:xfrm>
            <a:off x="3396763" y="7717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29" name="右箭头 28"/>
          <p:cNvSpPr/>
          <p:nvPr/>
        </p:nvSpPr>
        <p:spPr>
          <a:xfrm>
            <a:off x="3780463" y="3303252"/>
            <a:ext cx="1087120" cy="4299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 flipH="1">
            <a:off x="8285389" y="1320205"/>
            <a:ext cx="1060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余数</a:t>
            </a:r>
          </a:p>
        </p:txBody>
      </p:sp>
      <p:sp>
        <p:nvSpPr>
          <p:cNvPr id="31" name="文本框 30"/>
          <p:cNvSpPr txBox="1"/>
          <p:nvPr/>
        </p:nvSpPr>
        <p:spPr>
          <a:xfrm flipH="1">
            <a:off x="4518633" y="1683443"/>
            <a:ext cx="1060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余数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49629" y="4495800"/>
            <a:ext cx="3611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1 2 4 8 16 32 64 128 256 512 1024</a:t>
            </a:r>
          </a:p>
        </p:txBody>
      </p:sp>
      <p:sp>
        <p:nvSpPr>
          <p:cNvPr id="33" name="上箭头 32"/>
          <p:cNvSpPr/>
          <p:nvPr/>
        </p:nvSpPr>
        <p:spPr>
          <a:xfrm>
            <a:off x="5048728" y="1803400"/>
            <a:ext cx="666272" cy="125162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279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902423"/>
              </p:ext>
            </p:extLst>
          </p:nvPr>
        </p:nvGraphicFramePr>
        <p:xfrm>
          <a:off x="1286933" y="1583265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61281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8503321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350951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82123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74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72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 smtClean="0"/>
                        <a:t>|</a:t>
                      </a:r>
                      <a:r>
                        <a:rPr lang="zh-CN" altLang="en-US" b="1" dirty="0" smtClean="0"/>
                        <a:t>（位运算或）</a:t>
                      </a:r>
                      <a:r>
                        <a:rPr lang="en-US" altLang="zh-CN" b="1" dirty="0" smtClean="0"/>
                        <a:t>=7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23288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252343"/>
              </p:ext>
            </p:extLst>
          </p:nvPr>
        </p:nvGraphicFramePr>
        <p:xfrm>
          <a:off x="1286933" y="3776133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61281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8503321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350951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82123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74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72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 smtClean="0"/>
                        <a:t>&amp;</a:t>
                      </a:r>
                      <a:r>
                        <a:rPr lang="zh-CN" altLang="en-US" b="1" dirty="0" smtClean="0"/>
                        <a:t>（位运算与）</a:t>
                      </a:r>
                      <a:r>
                        <a:rPr lang="en-US" altLang="zh-CN" b="1" dirty="0" smtClean="0"/>
                        <a:t>=0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284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423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953</Words>
  <Application>Microsoft Office PowerPoint</Application>
  <PresentationFormat>宽屏</PresentationFormat>
  <Paragraphs>232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Noto Sans SC</vt:lpstr>
      <vt:lpstr>等线</vt:lpstr>
      <vt:lpstr>等线 Light</vt:lpstr>
      <vt:lpstr>微软雅黑</vt:lpstr>
      <vt:lpstr>Arial</vt:lpstr>
      <vt:lpstr>Office 主题​​</vt:lpstr>
      <vt:lpstr>C语言-数据类型 </vt:lpstr>
      <vt:lpstr>PowerPoint 演示文稿</vt:lpstr>
      <vt:lpstr>PowerPoint 演示文稿</vt:lpstr>
      <vt:lpstr>C语言程序-运行原理</vt:lpstr>
      <vt:lpstr>PowerPoint 演示文稿</vt:lpstr>
      <vt:lpstr>内存的基本组成单位:字节（字节对齐）</vt:lpstr>
      <vt:lpstr>定义一个变量</vt:lpstr>
      <vt:lpstr>基础数据类型的内存占用（sizeof函数）</vt:lpstr>
      <vt:lpstr>格式化输入和输出</vt:lpstr>
      <vt:lpstr>PowerPoint 演示文稿</vt:lpstr>
      <vt:lpstr>指针的定义</vt:lpstr>
      <vt:lpstr>PowerPoint 演示文稿</vt:lpstr>
      <vt:lpstr>一维数组基础</vt:lpstr>
      <vt:lpstr>一维数组函数传参</vt:lpstr>
      <vt:lpstr>一维数组与指针</vt:lpstr>
      <vt:lpstr>二维数组</vt:lpstr>
      <vt:lpstr>PowerPoint 演示文稿</vt:lpstr>
      <vt:lpstr>字符串的定义</vt:lpstr>
      <vt:lpstr>字符串与指针</vt:lpstr>
      <vt:lpstr>字符串的输入和输出（gets、puts)</vt:lpstr>
      <vt:lpstr>字符串的应用</vt:lpstr>
      <vt:lpstr>PowerPoint 演示文稿</vt:lpstr>
      <vt:lpstr>结构体的基础用法</vt:lpstr>
      <vt:lpstr>7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C语言数据类型 </dc:title>
  <dc:creator>向金龙(10012775)</dc:creator>
  <cp:lastModifiedBy>向金龙(10012775)</cp:lastModifiedBy>
  <cp:revision>101</cp:revision>
  <dcterms:created xsi:type="dcterms:W3CDTF">2026-06-20T22:10:33Z</dcterms:created>
  <dcterms:modified xsi:type="dcterms:W3CDTF">2026-06-27T14:48:36Z</dcterms:modified>
</cp:coreProperties>
</file>